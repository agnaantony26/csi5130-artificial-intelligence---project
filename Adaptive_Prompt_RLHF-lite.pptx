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62" d="100"/>
          <a:sy n="62" d="100"/>
        </p:scale>
        <p:origin x="79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EE8A52-27AD-471F-8614-F2C3DC36CF6C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925CAFB2-64C4-4BE0-873B-7998200B9401}">
      <dgm:prSet custT="1"/>
      <dgm:spPr/>
      <dgm:t>
        <a:bodyPr/>
        <a:lstStyle/>
        <a:p>
          <a:pPr>
            <a:defRPr cap="all"/>
          </a:pPr>
          <a:r>
            <a:rPr lang="en-US" sz="1400" cap="none" dirty="0">
              <a:latin typeface="Arial" panose="020B0604020202020204" pitchFamily="34" charset="0"/>
              <a:cs typeface="Arial" panose="020B0604020202020204" pitchFamily="34" charset="0"/>
            </a:rPr>
            <a:t>Large language models (LLMs) are now widely used for many NLP tasks, but their outputs are highly sensitive to how the input prompt is written.</a:t>
          </a:r>
          <a:br>
            <a:rPr lang="en-US" sz="1400" cap="none" dirty="0">
              <a:latin typeface="Arial" panose="020B0604020202020204" pitchFamily="34" charset="0"/>
              <a:cs typeface="Arial" panose="020B0604020202020204" pitchFamily="34" charset="0"/>
            </a:rPr>
          </a:br>
          <a:endParaRPr lang="en-US" sz="1400" cap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758D5DE-01EF-46F5-9F48-CF83AABD4321}" type="parTrans" cxnId="{92B5BC34-1D55-40F7-B2AE-125DCC155B67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38BDC2-2F08-4202-89BF-B65A85137F29}" type="sibTrans" cxnId="{92B5BC34-1D55-40F7-B2AE-125DCC155B67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2FCE801-27DF-4607-868D-69E5F92D62F0}">
      <dgm:prSet custT="1"/>
      <dgm:spPr/>
      <dgm:t>
        <a:bodyPr/>
        <a:lstStyle/>
        <a:p>
          <a:pPr>
            <a:defRPr cap="all"/>
          </a:pPr>
          <a:r>
            <a:rPr lang="en-US" sz="1400" cap="none" dirty="0">
              <a:latin typeface="Arial" panose="020B0604020202020204" pitchFamily="34" charset="0"/>
              <a:cs typeface="Arial" panose="020B0604020202020204" pitchFamily="34" charset="0"/>
            </a:rPr>
            <a:t>Their behavior is highly prompt dependent: well designed prompts improve clarity and correctness, while poor prompts cause irrelevant, verbose, or inaccurate outputs.</a:t>
          </a:r>
          <a:br>
            <a:rPr lang="en-US" sz="1400" cap="none" dirty="0">
              <a:latin typeface="Arial" panose="020B0604020202020204" pitchFamily="34" charset="0"/>
              <a:cs typeface="Arial" panose="020B0604020202020204" pitchFamily="34" charset="0"/>
            </a:rPr>
          </a:br>
          <a:endParaRPr lang="en-US" sz="1400" cap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B3A956B-89F2-4191-9F5F-29FB7C750102}" type="parTrans" cxnId="{AA1BFCDB-E2C4-4618-95F6-FBE2604DD594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1E132D8-6BB1-46AD-8E7D-52D5A6C52AD2}" type="sibTrans" cxnId="{AA1BFCDB-E2C4-4618-95F6-FBE2604DD594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695584F-1F4D-4118-804F-B0C674960705}">
      <dgm:prSet custT="1"/>
      <dgm:spPr/>
      <dgm:t>
        <a:bodyPr/>
        <a:lstStyle/>
        <a:p>
          <a:pPr>
            <a:defRPr cap="all"/>
          </a:pPr>
          <a:r>
            <a:rPr lang="en-US" sz="1400" cap="none" dirty="0">
              <a:latin typeface="Arial" panose="020B0604020202020204" pitchFamily="34" charset="0"/>
              <a:cs typeface="Arial" panose="020B0604020202020204" pitchFamily="34" charset="0"/>
            </a:rPr>
            <a:t>Manual prompt engineering is subjective, slow, and hard to scale because it relies on expert intuition and repeated trial and error.</a:t>
          </a:r>
          <a:br>
            <a:rPr lang="en-US" sz="1400" cap="none" dirty="0">
              <a:latin typeface="Arial" panose="020B0604020202020204" pitchFamily="34" charset="0"/>
              <a:cs typeface="Arial" panose="020B0604020202020204" pitchFamily="34" charset="0"/>
            </a:rPr>
          </a:br>
          <a:endParaRPr lang="en-US" sz="1400" cap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BB9A03-91ED-4A2E-966A-63DDA634735B}" type="parTrans" cxnId="{4AED4A52-92E3-4105-B7FC-FFE0BEA5C5E3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938A25B-43CF-41FB-9305-F782DA678467}" type="sibTrans" cxnId="{4AED4A52-92E3-4105-B7FC-FFE0BEA5C5E3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3510599-0D06-47C0-B472-568092CE0B54}">
      <dgm:prSet custT="1"/>
      <dgm:spPr/>
      <dgm:t>
        <a:bodyPr/>
        <a:lstStyle/>
        <a:p>
          <a:pPr>
            <a:defRPr cap="all"/>
          </a:pPr>
          <a:r>
            <a:rPr lang="en-US" sz="1400" cap="none" dirty="0">
              <a:latin typeface="Arial" panose="020B0604020202020204" pitchFamily="34" charset="0"/>
              <a:cs typeface="Arial" panose="020B0604020202020204" pitchFamily="34" charset="0"/>
            </a:rPr>
            <a:t>RLHF has shown that reinforcement learning can align LLMs with human preferences, but it typically needs costly human feedback, reward models, and significant compute.</a:t>
          </a:r>
          <a:br>
            <a:rPr lang="en-US" sz="1400" cap="none" dirty="0">
              <a:latin typeface="Arial" panose="020B0604020202020204" pitchFamily="34" charset="0"/>
              <a:cs typeface="Arial" panose="020B0604020202020204" pitchFamily="34" charset="0"/>
            </a:rPr>
          </a:br>
          <a:endParaRPr lang="en-US" sz="1400" cap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282A89-E04D-4790-908E-2303D9747136}" type="parTrans" cxnId="{E62071C0-B3CF-411B-B637-74E699EA2D04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094A627-E012-4EAE-A61B-436EF371452E}" type="sibTrans" cxnId="{E62071C0-B3CF-411B-B637-74E699EA2D04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200622-4933-44F0-8019-9BA54101C122}">
      <dgm:prSet custT="1"/>
      <dgm:spPr/>
      <dgm:t>
        <a:bodyPr/>
        <a:lstStyle/>
        <a:p>
          <a:pPr>
            <a:defRPr cap="all"/>
          </a:pPr>
          <a:r>
            <a:rPr lang="en-US" sz="1400" cap="none" dirty="0">
              <a:latin typeface="Arial" panose="020B0604020202020204" pitchFamily="34" charset="0"/>
              <a:cs typeface="Arial" panose="020B0604020202020204" pitchFamily="34" charset="0"/>
            </a:rPr>
            <a:t>Adaptive prompt optimization aims to automate this process by treating prompt selection as a learning problem, where an agent iteratively improves prompts based on feedback.</a:t>
          </a:r>
        </a:p>
      </dgm:t>
    </dgm:pt>
    <dgm:pt modelId="{F699AB65-4858-44FD-9916-360311013683}" type="parTrans" cxnId="{4AF8117A-CB37-4775-BB2F-48F00A002986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DE11B4-D45A-4E81-AF29-AAC635A86856}" type="sibTrans" cxnId="{4AF8117A-CB37-4775-BB2F-48F00A002986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7A0CFE-1107-4A79-A3CE-2C412BCAEEC4}" type="pres">
      <dgm:prSet presAssocID="{42EE8A52-27AD-471F-8614-F2C3DC36CF6C}" presName="diagram" presStyleCnt="0">
        <dgm:presLayoutVars>
          <dgm:dir/>
          <dgm:resizeHandles val="exact"/>
        </dgm:presLayoutVars>
      </dgm:prSet>
      <dgm:spPr/>
    </dgm:pt>
    <dgm:pt modelId="{10DA089E-96DB-4AE1-A568-DB3C2EE87B71}" type="pres">
      <dgm:prSet presAssocID="{925CAFB2-64C4-4BE0-873B-7998200B9401}" presName="node" presStyleLbl="node1" presStyleIdx="0" presStyleCnt="5" custScaleY="66794" custLinFactNeighborX="-48578" custLinFactNeighborY="2049">
        <dgm:presLayoutVars>
          <dgm:bulletEnabled val="1"/>
        </dgm:presLayoutVars>
      </dgm:prSet>
      <dgm:spPr/>
    </dgm:pt>
    <dgm:pt modelId="{8A74659E-7057-4800-A3C2-11E12FE7A63E}" type="pres">
      <dgm:prSet presAssocID="{1738BDC2-2F08-4202-89BF-B65A85137F29}" presName="sibTrans" presStyleCnt="0"/>
      <dgm:spPr/>
    </dgm:pt>
    <dgm:pt modelId="{31148D47-C45B-4776-B3C3-D7094BB4567F}" type="pres">
      <dgm:prSet presAssocID="{A2FCE801-27DF-4607-868D-69E5F92D62F0}" presName="node" presStyleLbl="node1" presStyleIdx="1" presStyleCnt="5" custScaleX="105030" custScaleY="64174" custLinFactNeighborX="-53715" custLinFactNeighborY="1328">
        <dgm:presLayoutVars>
          <dgm:bulletEnabled val="1"/>
        </dgm:presLayoutVars>
      </dgm:prSet>
      <dgm:spPr/>
    </dgm:pt>
    <dgm:pt modelId="{CAC4D393-08BD-4357-B743-5998450C0815}" type="pres">
      <dgm:prSet presAssocID="{91E132D8-6BB1-46AD-8E7D-52D5A6C52AD2}" presName="sibTrans" presStyleCnt="0"/>
      <dgm:spPr/>
    </dgm:pt>
    <dgm:pt modelId="{0FFF7C9F-1AD9-40F8-946A-739EA0BA3FBD}" type="pres">
      <dgm:prSet presAssocID="{0695584F-1F4D-4118-804F-B0C674960705}" presName="node" presStyleLbl="node1" presStyleIdx="2" presStyleCnt="5" custScaleY="71477" custLinFactX="100000" custLinFactNeighborX="118998" custLinFactNeighborY="-83895">
        <dgm:presLayoutVars>
          <dgm:bulletEnabled val="1"/>
        </dgm:presLayoutVars>
      </dgm:prSet>
      <dgm:spPr/>
    </dgm:pt>
    <dgm:pt modelId="{C0C70155-4C86-4058-B1F0-37CB1DC587D0}" type="pres">
      <dgm:prSet presAssocID="{A938A25B-43CF-41FB-9305-F782DA678467}" presName="sibTrans" presStyleCnt="0"/>
      <dgm:spPr/>
    </dgm:pt>
    <dgm:pt modelId="{65F082F2-2C20-4768-85ED-B33ECA23F347}" type="pres">
      <dgm:prSet presAssocID="{C3510599-0D06-47C0-B472-568092CE0B54}" presName="node" presStyleLbl="node1" presStyleIdx="3" presStyleCnt="5" custScaleY="77320" custLinFactNeighborX="-50877" custLinFactNeighborY="1671">
        <dgm:presLayoutVars>
          <dgm:bulletEnabled val="1"/>
        </dgm:presLayoutVars>
      </dgm:prSet>
      <dgm:spPr/>
    </dgm:pt>
    <dgm:pt modelId="{FC40B773-ACCF-4436-A881-3CA4E4702FD0}" type="pres">
      <dgm:prSet presAssocID="{7094A627-E012-4EAE-A61B-436EF371452E}" presName="sibTrans" presStyleCnt="0"/>
      <dgm:spPr/>
    </dgm:pt>
    <dgm:pt modelId="{93894BB5-9F3F-41B5-9958-1B0C50B53FA9}" type="pres">
      <dgm:prSet presAssocID="{65200622-4933-44F0-8019-9BA54101C122}" presName="node" presStyleLbl="node1" presStyleIdx="4" presStyleCnt="5" custScaleY="73933" custLinFactNeighborX="-44354" custLinFactNeighborY="2088">
        <dgm:presLayoutVars>
          <dgm:bulletEnabled val="1"/>
        </dgm:presLayoutVars>
      </dgm:prSet>
      <dgm:spPr/>
    </dgm:pt>
  </dgm:ptLst>
  <dgm:cxnLst>
    <dgm:cxn modelId="{92B5BC34-1D55-40F7-B2AE-125DCC155B67}" srcId="{42EE8A52-27AD-471F-8614-F2C3DC36CF6C}" destId="{925CAFB2-64C4-4BE0-873B-7998200B9401}" srcOrd="0" destOrd="0" parTransId="{3758D5DE-01EF-46F5-9F48-CF83AABD4321}" sibTransId="{1738BDC2-2F08-4202-89BF-B65A85137F29}"/>
    <dgm:cxn modelId="{A66F4936-F66C-4CDF-B859-3F6C1AD75EF6}" type="presOf" srcId="{42EE8A52-27AD-471F-8614-F2C3DC36CF6C}" destId="{817A0CFE-1107-4A79-A3CE-2C412BCAEEC4}" srcOrd="0" destOrd="0" presId="urn:microsoft.com/office/officeart/2005/8/layout/default"/>
    <dgm:cxn modelId="{02F83A60-5836-44B2-AEC8-4DFB46B57447}" type="presOf" srcId="{A2FCE801-27DF-4607-868D-69E5F92D62F0}" destId="{31148D47-C45B-4776-B3C3-D7094BB4567F}" srcOrd="0" destOrd="0" presId="urn:microsoft.com/office/officeart/2005/8/layout/default"/>
    <dgm:cxn modelId="{07A02C6F-0E96-4DA2-B82F-EC15796E6604}" type="presOf" srcId="{65200622-4933-44F0-8019-9BA54101C122}" destId="{93894BB5-9F3F-41B5-9958-1B0C50B53FA9}" srcOrd="0" destOrd="0" presId="urn:microsoft.com/office/officeart/2005/8/layout/default"/>
    <dgm:cxn modelId="{4AED4A52-92E3-4105-B7FC-FFE0BEA5C5E3}" srcId="{42EE8A52-27AD-471F-8614-F2C3DC36CF6C}" destId="{0695584F-1F4D-4118-804F-B0C674960705}" srcOrd="2" destOrd="0" parTransId="{F2BB9A03-91ED-4A2E-966A-63DDA634735B}" sibTransId="{A938A25B-43CF-41FB-9305-F782DA678467}"/>
    <dgm:cxn modelId="{BCA5BF52-D020-42F5-BA43-E4BD815EED31}" type="presOf" srcId="{925CAFB2-64C4-4BE0-873B-7998200B9401}" destId="{10DA089E-96DB-4AE1-A568-DB3C2EE87B71}" srcOrd="0" destOrd="0" presId="urn:microsoft.com/office/officeart/2005/8/layout/default"/>
    <dgm:cxn modelId="{4AF8117A-CB37-4775-BB2F-48F00A002986}" srcId="{42EE8A52-27AD-471F-8614-F2C3DC36CF6C}" destId="{65200622-4933-44F0-8019-9BA54101C122}" srcOrd="4" destOrd="0" parTransId="{F699AB65-4858-44FD-9916-360311013683}" sibTransId="{F5DE11B4-D45A-4E81-AF29-AAC635A86856}"/>
    <dgm:cxn modelId="{308C617E-B606-45FE-B579-4786D730CD9E}" type="presOf" srcId="{C3510599-0D06-47C0-B472-568092CE0B54}" destId="{65F082F2-2C20-4768-85ED-B33ECA23F347}" srcOrd="0" destOrd="0" presId="urn:microsoft.com/office/officeart/2005/8/layout/default"/>
    <dgm:cxn modelId="{14A80588-51AD-4E91-9991-BAFB82ED6F6A}" type="presOf" srcId="{0695584F-1F4D-4118-804F-B0C674960705}" destId="{0FFF7C9F-1AD9-40F8-946A-739EA0BA3FBD}" srcOrd="0" destOrd="0" presId="urn:microsoft.com/office/officeart/2005/8/layout/default"/>
    <dgm:cxn modelId="{E62071C0-B3CF-411B-B637-74E699EA2D04}" srcId="{42EE8A52-27AD-471F-8614-F2C3DC36CF6C}" destId="{C3510599-0D06-47C0-B472-568092CE0B54}" srcOrd="3" destOrd="0" parTransId="{8A282A89-E04D-4790-908E-2303D9747136}" sibTransId="{7094A627-E012-4EAE-A61B-436EF371452E}"/>
    <dgm:cxn modelId="{AA1BFCDB-E2C4-4618-95F6-FBE2604DD594}" srcId="{42EE8A52-27AD-471F-8614-F2C3DC36CF6C}" destId="{A2FCE801-27DF-4607-868D-69E5F92D62F0}" srcOrd="1" destOrd="0" parTransId="{5B3A956B-89F2-4191-9F5F-29FB7C750102}" sibTransId="{91E132D8-6BB1-46AD-8E7D-52D5A6C52AD2}"/>
    <dgm:cxn modelId="{052D34C8-10C4-4476-876A-20C06798C249}" type="presParOf" srcId="{817A0CFE-1107-4A79-A3CE-2C412BCAEEC4}" destId="{10DA089E-96DB-4AE1-A568-DB3C2EE87B71}" srcOrd="0" destOrd="0" presId="urn:microsoft.com/office/officeart/2005/8/layout/default"/>
    <dgm:cxn modelId="{A4276E5E-3FAB-477D-9924-B0B4CB0CB8EB}" type="presParOf" srcId="{817A0CFE-1107-4A79-A3CE-2C412BCAEEC4}" destId="{8A74659E-7057-4800-A3C2-11E12FE7A63E}" srcOrd="1" destOrd="0" presId="urn:microsoft.com/office/officeart/2005/8/layout/default"/>
    <dgm:cxn modelId="{A0468D4B-1AC3-4080-9E6B-C54E22EB8FBA}" type="presParOf" srcId="{817A0CFE-1107-4A79-A3CE-2C412BCAEEC4}" destId="{31148D47-C45B-4776-B3C3-D7094BB4567F}" srcOrd="2" destOrd="0" presId="urn:microsoft.com/office/officeart/2005/8/layout/default"/>
    <dgm:cxn modelId="{70015D0D-D429-45A3-BB49-F77027C8C0A5}" type="presParOf" srcId="{817A0CFE-1107-4A79-A3CE-2C412BCAEEC4}" destId="{CAC4D393-08BD-4357-B743-5998450C0815}" srcOrd="3" destOrd="0" presId="urn:microsoft.com/office/officeart/2005/8/layout/default"/>
    <dgm:cxn modelId="{3AD79044-B7E3-4D3C-8CD9-14C68770AB99}" type="presParOf" srcId="{817A0CFE-1107-4A79-A3CE-2C412BCAEEC4}" destId="{0FFF7C9F-1AD9-40F8-946A-739EA0BA3FBD}" srcOrd="4" destOrd="0" presId="urn:microsoft.com/office/officeart/2005/8/layout/default"/>
    <dgm:cxn modelId="{40824499-2C79-4285-90B7-DE0B094079BC}" type="presParOf" srcId="{817A0CFE-1107-4A79-A3CE-2C412BCAEEC4}" destId="{C0C70155-4C86-4058-B1F0-37CB1DC587D0}" srcOrd="5" destOrd="0" presId="urn:microsoft.com/office/officeart/2005/8/layout/default"/>
    <dgm:cxn modelId="{0AB6E3BF-2ADF-4551-A856-EC03258628CF}" type="presParOf" srcId="{817A0CFE-1107-4A79-A3CE-2C412BCAEEC4}" destId="{65F082F2-2C20-4768-85ED-B33ECA23F347}" srcOrd="6" destOrd="0" presId="urn:microsoft.com/office/officeart/2005/8/layout/default"/>
    <dgm:cxn modelId="{E8EA82EB-B680-4029-9A4C-7FBD027FB3C0}" type="presParOf" srcId="{817A0CFE-1107-4A79-A3CE-2C412BCAEEC4}" destId="{FC40B773-ACCF-4436-A881-3CA4E4702FD0}" srcOrd="7" destOrd="0" presId="urn:microsoft.com/office/officeart/2005/8/layout/default"/>
    <dgm:cxn modelId="{24629A56-E284-43D2-BFC1-F29D73B39DD5}" type="presParOf" srcId="{817A0CFE-1107-4A79-A3CE-2C412BCAEEC4}" destId="{93894BB5-9F3F-41B5-9958-1B0C50B53FA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2EDC2B-7148-4070-83FD-DA9B6E0F540F}" type="doc">
      <dgm:prSet loTypeId="urn:microsoft.com/office/officeart/2005/8/layout/vList2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BF632E6C-A07C-4953-ADED-3DF7994C592E}">
      <dgm:prSet phldrT="[Text]" phldr="0"/>
      <dgm:spPr/>
      <dgm:t>
        <a:bodyPr/>
        <a:lstStyle/>
        <a:p>
          <a:r>
            <a:rPr lang="en-US" dirty="0"/>
            <a:t>Dataset Preparation</a:t>
          </a:r>
        </a:p>
      </dgm:t>
    </dgm:pt>
    <dgm:pt modelId="{9891CDE4-87FF-4354-9AE4-700BEA847FBB}" type="parTrans" cxnId="{ECC04008-D938-441C-BE25-414E2B1EA6C4}">
      <dgm:prSet/>
      <dgm:spPr/>
      <dgm:t>
        <a:bodyPr/>
        <a:lstStyle/>
        <a:p>
          <a:endParaRPr lang="en-US"/>
        </a:p>
      </dgm:t>
    </dgm:pt>
    <dgm:pt modelId="{F2388A90-592F-4B95-8FC0-64563E3DB7C9}" type="sibTrans" cxnId="{ECC04008-D938-441C-BE25-414E2B1EA6C4}">
      <dgm:prSet/>
      <dgm:spPr/>
      <dgm:t>
        <a:bodyPr/>
        <a:lstStyle/>
        <a:p>
          <a:endParaRPr lang="en-US"/>
        </a:p>
      </dgm:t>
    </dgm:pt>
    <dgm:pt modelId="{5A091DAD-18CD-4722-84CC-160392A0CCBC}">
      <dgm:prSet phldrT="[Text]" phldr="0"/>
      <dgm:spPr/>
      <dgm:t>
        <a:bodyPr/>
        <a:lstStyle/>
        <a:p>
          <a:r>
            <a:rPr lang="en-US" dirty="0"/>
            <a:t>Load text passages &amp; reference summaries</a:t>
          </a:r>
        </a:p>
      </dgm:t>
    </dgm:pt>
    <dgm:pt modelId="{739A666B-82A8-456F-8B27-86D8D3D9F388}" type="parTrans" cxnId="{AC46AA5D-54AD-48B7-96D6-8F2380EB55EE}">
      <dgm:prSet/>
      <dgm:spPr/>
      <dgm:t>
        <a:bodyPr/>
        <a:lstStyle/>
        <a:p>
          <a:endParaRPr lang="en-US"/>
        </a:p>
      </dgm:t>
    </dgm:pt>
    <dgm:pt modelId="{A3C7E9F7-72EF-401F-8772-B82FD809A0D5}" type="sibTrans" cxnId="{AC46AA5D-54AD-48B7-96D6-8F2380EB55EE}">
      <dgm:prSet/>
      <dgm:spPr/>
      <dgm:t>
        <a:bodyPr/>
        <a:lstStyle/>
        <a:p>
          <a:endParaRPr lang="en-US"/>
        </a:p>
      </dgm:t>
    </dgm:pt>
    <dgm:pt modelId="{D139413C-8647-4B11-A04B-CBB91747F699}">
      <dgm:prSet phldrT="[Text]" phldr="0"/>
      <dgm:spPr/>
      <dgm:t>
        <a:bodyPr/>
        <a:lstStyle/>
        <a:p>
          <a:r>
            <a:rPr lang="en-US" dirty="0"/>
            <a:t>Load FLAN-T5 Base</a:t>
          </a:r>
        </a:p>
      </dgm:t>
    </dgm:pt>
    <dgm:pt modelId="{1CDC6947-8E34-4319-B641-3E631DCF4FC1}" type="parTrans" cxnId="{3033004C-B0A2-4B6A-A16D-DC29A8D1DFD3}">
      <dgm:prSet/>
      <dgm:spPr/>
      <dgm:t>
        <a:bodyPr/>
        <a:lstStyle/>
        <a:p>
          <a:endParaRPr lang="en-US"/>
        </a:p>
      </dgm:t>
    </dgm:pt>
    <dgm:pt modelId="{81E1DD4C-AFD3-4689-B5D0-022276C8A04C}" type="sibTrans" cxnId="{3033004C-B0A2-4B6A-A16D-DC29A8D1DFD3}">
      <dgm:prSet/>
      <dgm:spPr/>
      <dgm:t>
        <a:bodyPr/>
        <a:lstStyle/>
        <a:p>
          <a:endParaRPr lang="en-US"/>
        </a:p>
      </dgm:t>
    </dgm:pt>
    <dgm:pt modelId="{66B03135-E204-4CAB-8A7B-042800012DAE}">
      <dgm:prSet phldrT="[Text]" phldr="0"/>
      <dgm:spPr/>
      <dgm:t>
        <a:bodyPr/>
        <a:lstStyle/>
        <a:p>
          <a:r>
            <a:rPr lang="en-US" dirty="0"/>
            <a:t>Use as frozen target LLM</a:t>
          </a:r>
        </a:p>
      </dgm:t>
    </dgm:pt>
    <dgm:pt modelId="{03AF330E-711E-46CA-96C2-FF8284C20097}" type="parTrans" cxnId="{A9085868-135D-43FA-840C-3CF25BF5D62A}">
      <dgm:prSet/>
      <dgm:spPr/>
      <dgm:t>
        <a:bodyPr/>
        <a:lstStyle/>
        <a:p>
          <a:endParaRPr lang="en-US"/>
        </a:p>
      </dgm:t>
    </dgm:pt>
    <dgm:pt modelId="{50F528F7-67C4-4C25-95AD-038938AACAA2}" type="sibTrans" cxnId="{A9085868-135D-43FA-840C-3CF25BF5D62A}">
      <dgm:prSet/>
      <dgm:spPr/>
      <dgm:t>
        <a:bodyPr/>
        <a:lstStyle/>
        <a:p>
          <a:endParaRPr lang="en-US"/>
        </a:p>
      </dgm:t>
    </dgm:pt>
    <dgm:pt modelId="{1756FC42-B488-485C-B3B7-C095EDDBF672}">
      <dgm:prSet phldrT="[Text]" phldr="0"/>
      <dgm:spPr/>
      <dgm:t>
        <a:bodyPr/>
        <a:lstStyle/>
        <a:p>
          <a:r>
            <a:rPr lang="en-US" dirty="0"/>
            <a:t>Define Template Pool</a:t>
          </a:r>
        </a:p>
      </dgm:t>
    </dgm:pt>
    <dgm:pt modelId="{A5E049F1-F2B1-4DB2-909A-8BBA1B0E4CEC}" type="parTrans" cxnId="{780C0A5C-C240-46C6-9CEB-566731FBFA20}">
      <dgm:prSet/>
      <dgm:spPr/>
      <dgm:t>
        <a:bodyPr/>
        <a:lstStyle/>
        <a:p>
          <a:endParaRPr lang="en-US"/>
        </a:p>
      </dgm:t>
    </dgm:pt>
    <dgm:pt modelId="{D4CA2B0F-FFB5-4CD2-929C-F7074876847E}" type="sibTrans" cxnId="{780C0A5C-C240-46C6-9CEB-566731FBFA20}">
      <dgm:prSet/>
      <dgm:spPr/>
      <dgm:t>
        <a:bodyPr/>
        <a:lstStyle/>
        <a:p>
          <a:endParaRPr lang="en-US"/>
        </a:p>
      </dgm:t>
    </dgm:pt>
    <dgm:pt modelId="{7F09BEB9-92AE-4EDB-A3FF-E85952A9783E}">
      <dgm:prSet phldrT="[Text]" phldr="0"/>
      <dgm:spPr/>
      <dgm:t>
        <a:bodyPr/>
        <a:lstStyle/>
        <a:p>
          <a:r>
            <a:rPr lang="en-US" dirty="0"/>
            <a:t>Create candidate prompts</a:t>
          </a:r>
        </a:p>
      </dgm:t>
    </dgm:pt>
    <dgm:pt modelId="{05F3D967-C597-4B1E-A7D8-566CF5DFFAC4}" type="parTrans" cxnId="{A886AF96-7D5E-4C92-8499-E317E81E8259}">
      <dgm:prSet/>
      <dgm:spPr/>
      <dgm:t>
        <a:bodyPr/>
        <a:lstStyle/>
        <a:p>
          <a:endParaRPr lang="en-US"/>
        </a:p>
      </dgm:t>
    </dgm:pt>
    <dgm:pt modelId="{5D05A1DD-CAE5-4CFB-BBD8-1B0A713CA31B}" type="sibTrans" cxnId="{A886AF96-7D5E-4C92-8499-E317E81E8259}">
      <dgm:prSet/>
      <dgm:spPr/>
      <dgm:t>
        <a:bodyPr/>
        <a:lstStyle/>
        <a:p>
          <a:endParaRPr lang="en-US"/>
        </a:p>
      </dgm:t>
    </dgm:pt>
    <dgm:pt modelId="{B4911E98-D0DB-47FE-A3C0-9C63B39C3EA3}">
      <dgm:prSet phldrT="[Text]" phldr="0"/>
      <dgm:spPr/>
      <dgm:t>
        <a:bodyPr/>
        <a:lstStyle/>
        <a:p>
          <a:r>
            <a:rPr lang="en-US" dirty="0"/>
            <a:t>RL Loop</a:t>
          </a:r>
        </a:p>
      </dgm:t>
    </dgm:pt>
    <dgm:pt modelId="{5F48F29E-E978-44EE-9A05-4B00084AFFEC}" type="parTrans" cxnId="{333EFF6D-6618-4177-BE13-5CFFAAE1AC39}">
      <dgm:prSet/>
      <dgm:spPr/>
      <dgm:t>
        <a:bodyPr/>
        <a:lstStyle/>
        <a:p>
          <a:endParaRPr lang="en-US"/>
        </a:p>
      </dgm:t>
    </dgm:pt>
    <dgm:pt modelId="{70F852A5-48BF-495B-9FC4-BCE4678952BE}" type="sibTrans" cxnId="{333EFF6D-6618-4177-BE13-5CFFAAE1AC39}">
      <dgm:prSet/>
      <dgm:spPr/>
      <dgm:t>
        <a:bodyPr/>
        <a:lstStyle/>
        <a:p>
          <a:endParaRPr lang="en-US"/>
        </a:p>
      </dgm:t>
    </dgm:pt>
    <dgm:pt modelId="{54DA749A-4EE7-49E8-BF9C-27338DDAEA90}">
      <dgm:prSet phldrT="[Text]" phldr="0"/>
      <dgm:spPr/>
      <dgm:t>
        <a:bodyPr/>
        <a:lstStyle/>
        <a:p>
          <a:r>
            <a:rPr lang="en-US" dirty="0"/>
            <a:t>Run Q-learning for 50 iterations</a:t>
          </a:r>
        </a:p>
      </dgm:t>
    </dgm:pt>
    <dgm:pt modelId="{768C2190-0BE2-4904-B58B-615CDDB8D26B}" type="parTrans" cxnId="{3E37B732-E5C5-4B9B-B0E5-06EF9D0E6596}">
      <dgm:prSet/>
      <dgm:spPr/>
      <dgm:t>
        <a:bodyPr/>
        <a:lstStyle/>
        <a:p>
          <a:endParaRPr lang="en-US"/>
        </a:p>
      </dgm:t>
    </dgm:pt>
    <dgm:pt modelId="{4D2784C7-5B70-4740-BE87-63D432343083}" type="sibTrans" cxnId="{3E37B732-E5C5-4B9B-B0E5-06EF9D0E6596}">
      <dgm:prSet/>
      <dgm:spPr/>
      <dgm:t>
        <a:bodyPr/>
        <a:lstStyle/>
        <a:p>
          <a:endParaRPr lang="en-US"/>
        </a:p>
      </dgm:t>
    </dgm:pt>
    <dgm:pt modelId="{B5AB3197-22DC-4A95-BAF8-64AB72CC59A9}">
      <dgm:prSet phldrT="[Text]" phldr="0"/>
      <dgm:spPr/>
      <dgm:t>
        <a:bodyPr/>
        <a:lstStyle/>
        <a:p>
          <a:r>
            <a:rPr lang="en-US" dirty="0"/>
            <a:t>Reward Function</a:t>
          </a:r>
        </a:p>
      </dgm:t>
    </dgm:pt>
    <dgm:pt modelId="{323256EA-E4B8-4182-9C51-98296C9F79C7}" type="parTrans" cxnId="{F476BBBC-FCCA-4691-BB51-175C515994EB}">
      <dgm:prSet/>
      <dgm:spPr/>
      <dgm:t>
        <a:bodyPr/>
        <a:lstStyle/>
        <a:p>
          <a:endParaRPr lang="en-US"/>
        </a:p>
      </dgm:t>
    </dgm:pt>
    <dgm:pt modelId="{0104B5DC-8733-457D-805C-ED45016E519E}" type="sibTrans" cxnId="{F476BBBC-FCCA-4691-BB51-175C515994EB}">
      <dgm:prSet/>
      <dgm:spPr/>
      <dgm:t>
        <a:bodyPr/>
        <a:lstStyle/>
        <a:p>
          <a:endParaRPr lang="en-US"/>
        </a:p>
      </dgm:t>
    </dgm:pt>
    <dgm:pt modelId="{D1CDCC88-1C2D-431F-8D69-7D07381758A0}">
      <dgm:prSet phldrT="[Text]" phldr="0"/>
      <dgm:spPr/>
      <dgm:t>
        <a:bodyPr/>
        <a:lstStyle/>
        <a:p>
          <a:r>
            <a:rPr lang="en-US" dirty="0"/>
            <a:t>Use ROUGE+BLEU</a:t>
          </a:r>
        </a:p>
      </dgm:t>
    </dgm:pt>
    <dgm:pt modelId="{882CE7F2-2AC1-4B17-9898-50A3F1CB1CED}" type="parTrans" cxnId="{0128EBC8-B819-46BE-8A97-0E334F7AC552}">
      <dgm:prSet/>
      <dgm:spPr/>
      <dgm:t>
        <a:bodyPr/>
        <a:lstStyle/>
        <a:p>
          <a:endParaRPr lang="en-US"/>
        </a:p>
      </dgm:t>
    </dgm:pt>
    <dgm:pt modelId="{1DB95DF5-C3CB-4763-9B82-5BC1943BECF5}" type="sibTrans" cxnId="{0128EBC8-B819-46BE-8A97-0E334F7AC552}">
      <dgm:prSet/>
      <dgm:spPr/>
      <dgm:t>
        <a:bodyPr/>
        <a:lstStyle/>
        <a:p>
          <a:endParaRPr lang="en-US"/>
        </a:p>
      </dgm:t>
    </dgm:pt>
    <dgm:pt modelId="{EC4AD7B8-1D62-43C7-B931-E530E268B73D}">
      <dgm:prSet phldrT="[Text]" phldr="0"/>
      <dgm:spPr/>
      <dgm:t>
        <a:bodyPr/>
        <a:lstStyle/>
        <a:p>
          <a:r>
            <a:rPr lang="en-US" dirty="0"/>
            <a:t>Identify Optimized Prompt</a:t>
          </a:r>
        </a:p>
      </dgm:t>
    </dgm:pt>
    <dgm:pt modelId="{DBE38AF6-5A5B-4A38-841F-82F54D4918F2}" type="parTrans" cxnId="{38B6A99B-294D-4E0B-A215-AF2795EF2089}">
      <dgm:prSet/>
      <dgm:spPr/>
      <dgm:t>
        <a:bodyPr/>
        <a:lstStyle/>
        <a:p>
          <a:endParaRPr lang="en-US"/>
        </a:p>
      </dgm:t>
    </dgm:pt>
    <dgm:pt modelId="{F45D91C3-A071-40A9-84F0-7E99C99B3870}" type="sibTrans" cxnId="{38B6A99B-294D-4E0B-A215-AF2795EF2089}">
      <dgm:prSet/>
      <dgm:spPr/>
      <dgm:t>
        <a:bodyPr/>
        <a:lstStyle/>
        <a:p>
          <a:endParaRPr lang="en-US"/>
        </a:p>
      </dgm:t>
    </dgm:pt>
    <dgm:pt modelId="{64B022D8-BD04-4090-9192-56E82236D37B}">
      <dgm:prSet phldrT="[Text]" phldr="0"/>
      <dgm:spPr/>
      <dgm:t>
        <a:bodyPr/>
        <a:lstStyle/>
        <a:p>
          <a:r>
            <a:rPr lang="en-US" dirty="0"/>
            <a:t>Select highest-Q template</a:t>
          </a:r>
        </a:p>
      </dgm:t>
    </dgm:pt>
    <dgm:pt modelId="{D458FA42-8E19-4E31-B3E3-DE3FF081FD51}" type="parTrans" cxnId="{6D07B702-DBD4-4B5B-ADE7-7F7EEDA69068}">
      <dgm:prSet/>
      <dgm:spPr/>
      <dgm:t>
        <a:bodyPr/>
        <a:lstStyle/>
        <a:p>
          <a:endParaRPr lang="en-US"/>
        </a:p>
      </dgm:t>
    </dgm:pt>
    <dgm:pt modelId="{A9589AB9-5F3A-4B78-B494-95CE3FB968E9}" type="sibTrans" cxnId="{6D07B702-DBD4-4B5B-ADE7-7F7EEDA69068}">
      <dgm:prSet/>
      <dgm:spPr/>
      <dgm:t>
        <a:bodyPr/>
        <a:lstStyle/>
        <a:p>
          <a:endParaRPr lang="en-US"/>
        </a:p>
      </dgm:t>
    </dgm:pt>
    <dgm:pt modelId="{E3F87167-91BC-4EE7-9653-E61B57A4793E}">
      <dgm:prSet phldrT="[Text]" phldr="0"/>
      <dgm:spPr/>
      <dgm:t>
        <a:bodyPr/>
        <a:lstStyle/>
        <a:p>
          <a:r>
            <a:rPr lang="en-US" dirty="0"/>
            <a:t>Evaluate Before vs After</a:t>
          </a:r>
        </a:p>
      </dgm:t>
    </dgm:pt>
    <dgm:pt modelId="{1C1A1207-80ED-43B8-8B2A-CB312CFFF1EC}" type="parTrans" cxnId="{D04CBDB7-F360-4931-9DC2-A9776C1C3E70}">
      <dgm:prSet/>
      <dgm:spPr/>
      <dgm:t>
        <a:bodyPr/>
        <a:lstStyle/>
        <a:p>
          <a:endParaRPr lang="en-US"/>
        </a:p>
      </dgm:t>
    </dgm:pt>
    <dgm:pt modelId="{C75A8DEF-3C25-4049-B3D0-466C841294FC}" type="sibTrans" cxnId="{D04CBDB7-F360-4931-9DC2-A9776C1C3E70}">
      <dgm:prSet/>
      <dgm:spPr/>
      <dgm:t>
        <a:bodyPr/>
        <a:lstStyle/>
        <a:p>
          <a:endParaRPr lang="en-US"/>
        </a:p>
      </dgm:t>
    </dgm:pt>
    <dgm:pt modelId="{0C777A58-CC55-4A17-A0A7-CCDE3F2CBE07}">
      <dgm:prSet phldrT="[Text]" phldr="0"/>
      <dgm:spPr/>
      <dgm:t>
        <a:bodyPr/>
        <a:lstStyle/>
        <a:p>
          <a:r>
            <a:rPr lang="en-US" dirty="0"/>
            <a:t>Compare rewards on test inputs</a:t>
          </a:r>
        </a:p>
      </dgm:t>
    </dgm:pt>
    <dgm:pt modelId="{BD9A1C43-B7CF-4D00-82BB-5D2B1E20BF5E}" type="parTrans" cxnId="{ECFC4605-CF8F-4FF4-84CD-8D7B3AB05F54}">
      <dgm:prSet/>
      <dgm:spPr/>
      <dgm:t>
        <a:bodyPr/>
        <a:lstStyle/>
        <a:p>
          <a:endParaRPr lang="en-US"/>
        </a:p>
      </dgm:t>
    </dgm:pt>
    <dgm:pt modelId="{56C7C27C-13FA-4AC0-8BE7-F3BEA42BB6E0}" type="sibTrans" cxnId="{ECFC4605-CF8F-4FF4-84CD-8D7B3AB05F54}">
      <dgm:prSet/>
      <dgm:spPr/>
      <dgm:t>
        <a:bodyPr/>
        <a:lstStyle/>
        <a:p>
          <a:endParaRPr lang="en-US"/>
        </a:p>
      </dgm:t>
    </dgm:pt>
    <dgm:pt modelId="{103CE3BA-4394-4A09-9EE8-AFE79E3F1331}" type="pres">
      <dgm:prSet presAssocID="{F02EDC2B-7148-4070-83FD-DA9B6E0F540F}" presName="linear" presStyleCnt="0">
        <dgm:presLayoutVars>
          <dgm:animLvl val="lvl"/>
          <dgm:resizeHandles val="exact"/>
        </dgm:presLayoutVars>
      </dgm:prSet>
      <dgm:spPr/>
    </dgm:pt>
    <dgm:pt modelId="{688B77AE-6075-49FC-95AF-01202CD51719}" type="pres">
      <dgm:prSet presAssocID="{BF632E6C-A07C-4953-ADED-3DF7994C592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CB90F13-A649-45D8-8D01-11BF30EC3F53}" type="pres">
      <dgm:prSet presAssocID="{BF632E6C-A07C-4953-ADED-3DF7994C592E}" presName="childText" presStyleLbl="revTx" presStyleIdx="0" presStyleCnt="7">
        <dgm:presLayoutVars>
          <dgm:bulletEnabled val="1"/>
        </dgm:presLayoutVars>
      </dgm:prSet>
      <dgm:spPr/>
    </dgm:pt>
    <dgm:pt modelId="{AB22743B-CF83-46A9-A37A-1B50CA930AEC}" type="pres">
      <dgm:prSet presAssocID="{D139413C-8647-4B11-A04B-CBB91747F69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B038128-6133-4C08-A419-C5D61CB18EFE}" type="pres">
      <dgm:prSet presAssocID="{D139413C-8647-4B11-A04B-CBB91747F699}" presName="childText" presStyleLbl="revTx" presStyleIdx="1" presStyleCnt="7">
        <dgm:presLayoutVars>
          <dgm:bulletEnabled val="1"/>
        </dgm:presLayoutVars>
      </dgm:prSet>
      <dgm:spPr/>
    </dgm:pt>
    <dgm:pt modelId="{5D3221CA-E7D7-45A8-978F-E706FC904CCA}" type="pres">
      <dgm:prSet presAssocID="{1756FC42-B488-485C-B3B7-C095EDDBF672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B27EEA87-252E-41DC-9B9B-110415A3FDD1}" type="pres">
      <dgm:prSet presAssocID="{1756FC42-B488-485C-B3B7-C095EDDBF672}" presName="childText" presStyleLbl="revTx" presStyleIdx="2" presStyleCnt="7">
        <dgm:presLayoutVars>
          <dgm:bulletEnabled val="1"/>
        </dgm:presLayoutVars>
      </dgm:prSet>
      <dgm:spPr/>
    </dgm:pt>
    <dgm:pt modelId="{9D23E495-CA61-4F9F-90DC-CE4AA27CB0F7}" type="pres">
      <dgm:prSet presAssocID="{B4911E98-D0DB-47FE-A3C0-9C63B39C3EA3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79C2C08C-D8FD-4513-B7EE-89C41B2DF464}" type="pres">
      <dgm:prSet presAssocID="{B4911E98-D0DB-47FE-A3C0-9C63B39C3EA3}" presName="childText" presStyleLbl="revTx" presStyleIdx="3" presStyleCnt="7">
        <dgm:presLayoutVars>
          <dgm:bulletEnabled val="1"/>
        </dgm:presLayoutVars>
      </dgm:prSet>
      <dgm:spPr/>
    </dgm:pt>
    <dgm:pt modelId="{BB97B3F8-B429-4C8F-AE27-94418460CE87}" type="pres">
      <dgm:prSet presAssocID="{B5AB3197-22DC-4A95-BAF8-64AB72CC59A9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3D80F77C-26D4-4A14-81EE-87BD40AE2184}" type="pres">
      <dgm:prSet presAssocID="{B5AB3197-22DC-4A95-BAF8-64AB72CC59A9}" presName="childText" presStyleLbl="revTx" presStyleIdx="4" presStyleCnt="7">
        <dgm:presLayoutVars>
          <dgm:bulletEnabled val="1"/>
        </dgm:presLayoutVars>
      </dgm:prSet>
      <dgm:spPr/>
    </dgm:pt>
    <dgm:pt modelId="{0BD344B5-5998-4909-97F0-CF78FD5FF208}" type="pres">
      <dgm:prSet presAssocID="{EC4AD7B8-1D62-43C7-B931-E530E268B73D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2B0F8E47-13BE-423D-A65B-5446511EC91D}" type="pres">
      <dgm:prSet presAssocID="{EC4AD7B8-1D62-43C7-B931-E530E268B73D}" presName="childText" presStyleLbl="revTx" presStyleIdx="5" presStyleCnt="7">
        <dgm:presLayoutVars>
          <dgm:bulletEnabled val="1"/>
        </dgm:presLayoutVars>
      </dgm:prSet>
      <dgm:spPr/>
    </dgm:pt>
    <dgm:pt modelId="{C3E1405E-1B93-4351-8298-B7349E64C7BC}" type="pres">
      <dgm:prSet presAssocID="{E3F87167-91BC-4EE7-9653-E61B57A4793E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22762C62-A5EA-4618-B1EB-E8D5051FE21F}" type="pres">
      <dgm:prSet presAssocID="{E3F87167-91BC-4EE7-9653-E61B57A4793E}" presName="childText" presStyleLbl="revTx" presStyleIdx="6" presStyleCnt="7">
        <dgm:presLayoutVars>
          <dgm:bulletEnabled val="1"/>
        </dgm:presLayoutVars>
      </dgm:prSet>
      <dgm:spPr/>
    </dgm:pt>
  </dgm:ptLst>
  <dgm:cxnLst>
    <dgm:cxn modelId="{A56CD001-1137-4C82-B26C-8B472C8DA06A}" type="presOf" srcId="{54DA749A-4EE7-49E8-BF9C-27338DDAEA90}" destId="{79C2C08C-D8FD-4513-B7EE-89C41B2DF464}" srcOrd="0" destOrd="0" presId="urn:microsoft.com/office/officeart/2005/8/layout/vList2"/>
    <dgm:cxn modelId="{6D07B702-DBD4-4B5B-ADE7-7F7EEDA69068}" srcId="{EC4AD7B8-1D62-43C7-B931-E530E268B73D}" destId="{64B022D8-BD04-4090-9192-56E82236D37B}" srcOrd="0" destOrd="0" parTransId="{D458FA42-8E19-4E31-B3E3-DE3FF081FD51}" sibTransId="{A9589AB9-5F3A-4B78-B494-95CE3FB968E9}"/>
    <dgm:cxn modelId="{ECFC4605-CF8F-4FF4-84CD-8D7B3AB05F54}" srcId="{E3F87167-91BC-4EE7-9653-E61B57A4793E}" destId="{0C777A58-CC55-4A17-A0A7-CCDE3F2CBE07}" srcOrd="0" destOrd="0" parTransId="{BD9A1C43-B7CF-4D00-82BB-5D2B1E20BF5E}" sibTransId="{56C7C27C-13FA-4AC0-8BE7-F3BEA42BB6E0}"/>
    <dgm:cxn modelId="{ECC04008-D938-441C-BE25-414E2B1EA6C4}" srcId="{F02EDC2B-7148-4070-83FD-DA9B6E0F540F}" destId="{BF632E6C-A07C-4953-ADED-3DF7994C592E}" srcOrd="0" destOrd="0" parTransId="{9891CDE4-87FF-4354-9AE4-700BEA847FBB}" sibTransId="{F2388A90-592F-4B95-8FC0-64563E3DB7C9}"/>
    <dgm:cxn modelId="{E62FE615-3F91-4D04-B732-5D9577AD37E9}" type="presOf" srcId="{0C777A58-CC55-4A17-A0A7-CCDE3F2CBE07}" destId="{22762C62-A5EA-4618-B1EB-E8D5051FE21F}" srcOrd="0" destOrd="0" presId="urn:microsoft.com/office/officeart/2005/8/layout/vList2"/>
    <dgm:cxn modelId="{EE0B6E16-E9A5-47F4-A559-BAA4D436F635}" type="presOf" srcId="{7F09BEB9-92AE-4EDB-A3FF-E85952A9783E}" destId="{B27EEA87-252E-41DC-9B9B-110415A3FDD1}" srcOrd="0" destOrd="0" presId="urn:microsoft.com/office/officeart/2005/8/layout/vList2"/>
    <dgm:cxn modelId="{2B2A6932-9C8C-4F11-B168-3AD481CD9313}" type="presOf" srcId="{66B03135-E204-4CAB-8A7B-042800012DAE}" destId="{3B038128-6133-4C08-A419-C5D61CB18EFE}" srcOrd="0" destOrd="0" presId="urn:microsoft.com/office/officeart/2005/8/layout/vList2"/>
    <dgm:cxn modelId="{3E37B732-E5C5-4B9B-B0E5-06EF9D0E6596}" srcId="{B4911E98-D0DB-47FE-A3C0-9C63B39C3EA3}" destId="{54DA749A-4EE7-49E8-BF9C-27338DDAEA90}" srcOrd="0" destOrd="0" parTransId="{768C2190-0BE2-4904-B58B-615CDDB8D26B}" sibTransId="{4D2784C7-5B70-4740-BE87-63D432343083}"/>
    <dgm:cxn modelId="{780C0A5C-C240-46C6-9CEB-566731FBFA20}" srcId="{F02EDC2B-7148-4070-83FD-DA9B6E0F540F}" destId="{1756FC42-B488-485C-B3B7-C095EDDBF672}" srcOrd="2" destOrd="0" parTransId="{A5E049F1-F2B1-4DB2-909A-8BBA1B0E4CEC}" sibTransId="{D4CA2B0F-FFB5-4CD2-929C-F7074876847E}"/>
    <dgm:cxn modelId="{AC46AA5D-54AD-48B7-96D6-8F2380EB55EE}" srcId="{BF632E6C-A07C-4953-ADED-3DF7994C592E}" destId="{5A091DAD-18CD-4722-84CC-160392A0CCBC}" srcOrd="0" destOrd="0" parTransId="{739A666B-82A8-456F-8B27-86D8D3D9F388}" sibTransId="{A3C7E9F7-72EF-401F-8772-B82FD809A0D5}"/>
    <dgm:cxn modelId="{28DE4462-58CA-4359-839E-A814F2C44DDC}" type="presOf" srcId="{EC4AD7B8-1D62-43C7-B931-E530E268B73D}" destId="{0BD344B5-5998-4909-97F0-CF78FD5FF208}" srcOrd="0" destOrd="0" presId="urn:microsoft.com/office/officeart/2005/8/layout/vList2"/>
    <dgm:cxn modelId="{A9085868-135D-43FA-840C-3CF25BF5D62A}" srcId="{D139413C-8647-4B11-A04B-CBB91747F699}" destId="{66B03135-E204-4CAB-8A7B-042800012DAE}" srcOrd="0" destOrd="0" parTransId="{03AF330E-711E-46CA-96C2-FF8284C20097}" sibTransId="{50F528F7-67C4-4C25-95AD-038938AACAA2}"/>
    <dgm:cxn modelId="{3033004C-B0A2-4B6A-A16D-DC29A8D1DFD3}" srcId="{F02EDC2B-7148-4070-83FD-DA9B6E0F540F}" destId="{D139413C-8647-4B11-A04B-CBB91747F699}" srcOrd="1" destOrd="0" parTransId="{1CDC6947-8E34-4319-B641-3E631DCF4FC1}" sibTransId="{81E1DD4C-AFD3-4689-B5D0-022276C8A04C}"/>
    <dgm:cxn modelId="{333EFF6D-6618-4177-BE13-5CFFAAE1AC39}" srcId="{F02EDC2B-7148-4070-83FD-DA9B6E0F540F}" destId="{B4911E98-D0DB-47FE-A3C0-9C63B39C3EA3}" srcOrd="3" destOrd="0" parTransId="{5F48F29E-E978-44EE-9A05-4B00084AFFEC}" sibTransId="{70F852A5-48BF-495B-9FC4-BCE4678952BE}"/>
    <dgm:cxn modelId="{F1556B4E-03CF-4A20-AC40-5162F6FF7212}" type="presOf" srcId="{64B022D8-BD04-4090-9192-56E82236D37B}" destId="{2B0F8E47-13BE-423D-A65B-5446511EC91D}" srcOrd="0" destOrd="0" presId="urn:microsoft.com/office/officeart/2005/8/layout/vList2"/>
    <dgm:cxn modelId="{5DF30A71-8F60-4678-937A-B251E5726ED9}" type="presOf" srcId="{B4911E98-D0DB-47FE-A3C0-9C63B39C3EA3}" destId="{9D23E495-CA61-4F9F-90DC-CE4AA27CB0F7}" srcOrd="0" destOrd="0" presId="urn:microsoft.com/office/officeart/2005/8/layout/vList2"/>
    <dgm:cxn modelId="{1D30BB74-5D3D-4117-9B3A-EAF6F6BB03F4}" type="presOf" srcId="{D139413C-8647-4B11-A04B-CBB91747F699}" destId="{AB22743B-CF83-46A9-A37A-1B50CA930AEC}" srcOrd="0" destOrd="0" presId="urn:microsoft.com/office/officeart/2005/8/layout/vList2"/>
    <dgm:cxn modelId="{89A4AC91-FD05-4931-B00F-4CF22B12E9F0}" type="presOf" srcId="{1756FC42-B488-485C-B3B7-C095EDDBF672}" destId="{5D3221CA-E7D7-45A8-978F-E706FC904CCA}" srcOrd="0" destOrd="0" presId="urn:microsoft.com/office/officeart/2005/8/layout/vList2"/>
    <dgm:cxn modelId="{A886AF96-7D5E-4C92-8499-E317E81E8259}" srcId="{1756FC42-B488-485C-B3B7-C095EDDBF672}" destId="{7F09BEB9-92AE-4EDB-A3FF-E85952A9783E}" srcOrd="0" destOrd="0" parTransId="{05F3D967-C597-4B1E-A7D8-566CF5DFFAC4}" sibTransId="{5D05A1DD-CAE5-4CFB-BBD8-1B0A713CA31B}"/>
    <dgm:cxn modelId="{38B6A99B-294D-4E0B-A215-AF2795EF2089}" srcId="{F02EDC2B-7148-4070-83FD-DA9B6E0F540F}" destId="{EC4AD7B8-1D62-43C7-B931-E530E268B73D}" srcOrd="5" destOrd="0" parTransId="{DBE38AF6-5A5B-4A38-841F-82F54D4918F2}" sibTransId="{F45D91C3-A071-40A9-84F0-7E99C99B3870}"/>
    <dgm:cxn modelId="{D04CBDB7-F360-4931-9DC2-A9776C1C3E70}" srcId="{F02EDC2B-7148-4070-83FD-DA9B6E0F540F}" destId="{E3F87167-91BC-4EE7-9653-E61B57A4793E}" srcOrd="6" destOrd="0" parTransId="{1C1A1207-80ED-43B8-8B2A-CB312CFFF1EC}" sibTransId="{C75A8DEF-3C25-4049-B3D0-466C841294FC}"/>
    <dgm:cxn modelId="{F476BBBC-FCCA-4691-BB51-175C515994EB}" srcId="{F02EDC2B-7148-4070-83FD-DA9B6E0F540F}" destId="{B5AB3197-22DC-4A95-BAF8-64AB72CC59A9}" srcOrd="4" destOrd="0" parTransId="{323256EA-E4B8-4182-9C51-98296C9F79C7}" sibTransId="{0104B5DC-8733-457D-805C-ED45016E519E}"/>
    <dgm:cxn modelId="{071B45BD-ECF1-484A-8D81-05E967F927EF}" type="presOf" srcId="{BF632E6C-A07C-4953-ADED-3DF7994C592E}" destId="{688B77AE-6075-49FC-95AF-01202CD51719}" srcOrd="0" destOrd="0" presId="urn:microsoft.com/office/officeart/2005/8/layout/vList2"/>
    <dgm:cxn modelId="{B3C145C8-9214-4686-8F93-C1D608CCBB9B}" type="presOf" srcId="{F02EDC2B-7148-4070-83FD-DA9B6E0F540F}" destId="{103CE3BA-4394-4A09-9EE8-AFE79E3F1331}" srcOrd="0" destOrd="0" presId="urn:microsoft.com/office/officeart/2005/8/layout/vList2"/>
    <dgm:cxn modelId="{0128EBC8-B819-46BE-8A97-0E334F7AC552}" srcId="{B5AB3197-22DC-4A95-BAF8-64AB72CC59A9}" destId="{D1CDCC88-1C2D-431F-8D69-7D07381758A0}" srcOrd="0" destOrd="0" parTransId="{882CE7F2-2AC1-4B17-9898-50A3F1CB1CED}" sibTransId="{1DB95DF5-C3CB-4763-9B82-5BC1943BECF5}"/>
    <dgm:cxn modelId="{B5E912CD-7112-4A65-9055-8792148B2BB4}" type="presOf" srcId="{5A091DAD-18CD-4722-84CC-160392A0CCBC}" destId="{8CB90F13-A649-45D8-8D01-11BF30EC3F53}" srcOrd="0" destOrd="0" presId="urn:microsoft.com/office/officeart/2005/8/layout/vList2"/>
    <dgm:cxn modelId="{871AC4D5-C3C3-40F2-AC14-D13F9D5EE3A8}" type="presOf" srcId="{E3F87167-91BC-4EE7-9653-E61B57A4793E}" destId="{C3E1405E-1B93-4351-8298-B7349E64C7BC}" srcOrd="0" destOrd="0" presId="urn:microsoft.com/office/officeart/2005/8/layout/vList2"/>
    <dgm:cxn modelId="{DDCAA0E2-8523-4BAD-A8FC-29219D874DEF}" type="presOf" srcId="{B5AB3197-22DC-4A95-BAF8-64AB72CC59A9}" destId="{BB97B3F8-B429-4C8F-AE27-94418460CE87}" srcOrd="0" destOrd="0" presId="urn:microsoft.com/office/officeart/2005/8/layout/vList2"/>
    <dgm:cxn modelId="{33C196E7-E5E6-463E-B5FD-F3A49BFE0E50}" type="presOf" srcId="{D1CDCC88-1C2D-431F-8D69-7D07381758A0}" destId="{3D80F77C-26D4-4A14-81EE-87BD40AE2184}" srcOrd="0" destOrd="0" presId="urn:microsoft.com/office/officeart/2005/8/layout/vList2"/>
    <dgm:cxn modelId="{043C3BAC-FE45-4251-95C3-CB7A7832586D}" type="presParOf" srcId="{103CE3BA-4394-4A09-9EE8-AFE79E3F1331}" destId="{688B77AE-6075-49FC-95AF-01202CD51719}" srcOrd="0" destOrd="0" presId="urn:microsoft.com/office/officeart/2005/8/layout/vList2"/>
    <dgm:cxn modelId="{98027B6D-3316-4A2A-BC34-C676D78A5D9F}" type="presParOf" srcId="{103CE3BA-4394-4A09-9EE8-AFE79E3F1331}" destId="{8CB90F13-A649-45D8-8D01-11BF30EC3F53}" srcOrd="1" destOrd="0" presId="urn:microsoft.com/office/officeart/2005/8/layout/vList2"/>
    <dgm:cxn modelId="{0EC44947-EECB-4AEB-BEB7-173B25E27E6E}" type="presParOf" srcId="{103CE3BA-4394-4A09-9EE8-AFE79E3F1331}" destId="{AB22743B-CF83-46A9-A37A-1B50CA930AEC}" srcOrd="2" destOrd="0" presId="urn:microsoft.com/office/officeart/2005/8/layout/vList2"/>
    <dgm:cxn modelId="{CECDB681-84ED-4556-93BA-1D55EFF0A901}" type="presParOf" srcId="{103CE3BA-4394-4A09-9EE8-AFE79E3F1331}" destId="{3B038128-6133-4C08-A419-C5D61CB18EFE}" srcOrd="3" destOrd="0" presId="urn:microsoft.com/office/officeart/2005/8/layout/vList2"/>
    <dgm:cxn modelId="{70CF3FF6-B1BE-4736-97CF-8EFE07B89769}" type="presParOf" srcId="{103CE3BA-4394-4A09-9EE8-AFE79E3F1331}" destId="{5D3221CA-E7D7-45A8-978F-E706FC904CCA}" srcOrd="4" destOrd="0" presId="urn:microsoft.com/office/officeart/2005/8/layout/vList2"/>
    <dgm:cxn modelId="{7111C215-29E0-4FF2-9EB9-655749A74313}" type="presParOf" srcId="{103CE3BA-4394-4A09-9EE8-AFE79E3F1331}" destId="{B27EEA87-252E-41DC-9B9B-110415A3FDD1}" srcOrd="5" destOrd="0" presId="urn:microsoft.com/office/officeart/2005/8/layout/vList2"/>
    <dgm:cxn modelId="{5D2823A1-8715-4D27-B258-35F4A3CBCA49}" type="presParOf" srcId="{103CE3BA-4394-4A09-9EE8-AFE79E3F1331}" destId="{9D23E495-CA61-4F9F-90DC-CE4AA27CB0F7}" srcOrd="6" destOrd="0" presId="urn:microsoft.com/office/officeart/2005/8/layout/vList2"/>
    <dgm:cxn modelId="{3D0C0A87-962D-4FAE-80F1-2BAEC5B60F03}" type="presParOf" srcId="{103CE3BA-4394-4A09-9EE8-AFE79E3F1331}" destId="{79C2C08C-D8FD-4513-B7EE-89C41B2DF464}" srcOrd="7" destOrd="0" presId="urn:microsoft.com/office/officeart/2005/8/layout/vList2"/>
    <dgm:cxn modelId="{49A16887-21A5-4BC8-9EF8-0A94659B5C64}" type="presParOf" srcId="{103CE3BA-4394-4A09-9EE8-AFE79E3F1331}" destId="{BB97B3F8-B429-4C8F-AE27-94418460CE87}" srcOrd="8" destOrd="0" presId="urn:microsoft.com/office/officeart/2005/8/layout/vList2"/>
    <dgm:cxn modelId="{7CDDD3B7-185B-404F-A6E7-1DC9958D7325}" type="presParOf" srcId="{103CE3BA-4394-4A09-9EE8-AFE79E3F1331}" destId="{3D80F77C-26D4-4A14-81EE-87BD40AE2184}" srcOrd="9" destOrd="0" presId="urn:microsoft.com/office/officeart/2005/8/layout/vList2"/>
    <dgm:cxn modelId="{68278696-0FC3-4114-ACB7-38D9EA2A44E9}" type="presParOf" srcId="{103CE3BA-4394-4A09-9EE8-AFE79E3F1331}" destId="{0BD344B5-5998-4909-97F0-CF78FD5FF208}" srcOrd="10" destOrd="0" presId="urn:microsoft.com/office/officeart/2005/8/layout/vList2"/>
    <dgm:cxn modelId="{BF2468FD-C09D-496F-91C6-F79E4FEBA867}" type="presParOf" srcId="{103CE3BA-4394-4A09-9EE8-AFE79E3F1331}" destId="{2B0F8E47-13BE-423D-A65B-5446511EC91D}" srcOrd="11" destOrd="0" presId="urn:microsoft.com/office/officeart/2005/8/layout/vList2"/>
    <dgm:cxn modelId="{2532B6C9-1E27-4F08-B5F5-C432EFE15190}" type="presParOf" srcId="{103CE3BA-4394-4A09-9EE8-AFE79E3F1331}" destId="{C3E1405E-1B93-4351-8298-B7349E64C7BC}" srcOrd="12" destOrd="0" presId="urn:microsoft.com/office/officeart/2005/8/layout/vList2"/>
    <dgm:cxn modelId="{D79BC54E-18CC-46A2-B807-F3D3493C3413}" type="presParOf" srcId="{103CE3BA-4394-4A09-9EE8-AFE79E3F1331}" destId="{22762C62-A5EA-4618-B1EB-E8D5051FE21F}" srcOrd="1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AB9C81-8225-4E0E-8751-5EF2440CD359}" type="doc">
      <dgm:prSet loTypeId="urn:diagrams.loki3.com/VaryingWidth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FEF8EE-337E-480A-9BB3-62C9CE460B88}">
      <dgm:prSet phldrT="[Text]" phldr="0" custT="1"/>
      <dgm:spPr>
        <a:solidFill>
          <a:schemeClr val="tx2">
            <a:lumMod val="10000"/>
            <a:lumOff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</dgm:spPr>
      <dgm:t>
        <a:bodyPr/>
        <a:lstStyle/>
        <a:p>
          <a:pPr algn="l"/>
          <a:r>
            <a: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Q-Learning Prompt Optimization</a:t>
          </a:r>
        </a:p>
      </dgm:t>
    </dgm:pt>
    <dgm:pt modelId="{4FFFE954-CE7F-409D-8953-7E35C6A62D3A}" type="parTrans" cxnId="{D2993FD3-E25D-45D4-B288-E144438771EF}">
      <dgm:prSet/>
      <dgm:spPr/>
      <dgm:t>
        <a:bodyPr/>
        <a:lstStyle/>
        <a:p>
          <a:pPr algn="l"/>
          <a:endParaRPr lang="en-US" sz="20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434251-301C-4030-9B90-68D8947861C0}" type="sibTrans" cxnId="{D2993FD3-E25D-45D4-B288-E144438771EF}">
      <dgm:prSet/>
      <dgm:spPr/>
      <dgm:t>
        <a:bodyPr/>
        <a:lstStyle/>
        <a:p>
          <a:pPr algn="l"/>
          <a:endParaRPr lang="en-US" sz="20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867BD3-34DB-4FBB-BD19-8E270EA51026}">
      <dgm:prSet phldrT="[Text]" custT="1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pPr algn="l"/>
          <a:r>
            <a: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Reward Function based ROUGE, BLEU</a:t>
          </a:r>
        </a:p>
      </dgm:t>
    </dgm:pt>
    <dgm:pt modelId="{4D3971D7-C9B3-47CE-BEDF-349850F1091C}" type="parTrans" cxnId="{FBF37E78-EB1F-4DC3-B191-4E55E1CA2C8D}">
      <dgm:prSet/>
      <dgm:spPr/>
      <dgm:t>
        <a:bodyPr/>
        <a:lstStyle/>
        <a:p>
          <a:pPr algn="l"/>
          <a:endParaRPr lang="en-US" sz="20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8713FC-C9BE-4A75-B9CC-745A55C23122}" type="sibTrans" cxnId="{FBF37E78-EB1F-4DC3-B191-4E55E1CA2C8D}">
      <dgm:prSet/>
      <dgm:spPr/>
      <dgm:t>
        <a:bodyPr/>
        <a:lstStyle/>
        <a:p>
          <a:pPr algn="l"/>
          <a:endParaRPr lang="en-US" sz="20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478EC4-EB01-48A6-A681-8360FFF0E0D7}">
      <dgm:prSet phldrT="[Text]" custT="1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pPr algn="l"/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Use of key libraries (Transformers , Torch etc.)</a:t>
          </a:r>
        </a:p>
      </dgm:t>
    </dgm:pt>
    <dgm:pt modelId="{B36AAFD1-783F-429D-B5FF-B5B49A6A7C61}" type="parTrans" cxnId="{969DE840-ECC8-4AA7-8D48-0281DA5C0E4C}">
      <dgm:prSet/>
      <dgm:spPr/>
      <dgm:t>
        <a:bodyPr/>
        <a:lstStyle/>
        <a:p>
          <a:pPr algn="l"/>
          <a:endParaRPr lang="en-US" sz="20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B5F9C1E-8655-41D5-990C-64FC8DDFB750}" type="sibTrans" cxnId="{969DE840-ECC8-4AA7-8D48-0281DA5C0E4C}">
      <dgm:prSet/>
      <dgm:spPr/>
      <dgm:t>
        <a:bodyPr/>
        <a:lstStyle/>
        <a:p>
          <a:pPr algn="l"/>
          <a:endParaRPr lang="en-US" sz="20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01A3E6-8CF7-41DF-8CC2-11B8A4D37044}" type="pres">
      <dgm:prSet presAssocID="{44AB9C81-8225-4E0E-8751-5EF2440CD359}" presName="Name0" presStyleCnt="0">
        <dgm:presLayoutVars>
          <dgm:resizeHandles/>
        </dgm:presLayoutVars>
      </dgm:prSet>
      <dgm:spPr/>
    </dgm:pt>
    <dgm:pt modelId="{6750F547-50FD-48A6-8AE1-D91F8237C777}" type="pres">
      <dgm:prSet presAssocID="{1BFEF8EE-337E-480A-9BB3-62C9CE460B88}" presName="text" presStyleLbl="node1" presStyleIdx="0" presStyleCnt="3" custScaleX="751162">
        <dgm:presLayoutVars>
          <dgm:bulletEnabled val="1"/>
        </dgm:presLayoutVars>
      </dgm:prSet>
      <dgm:spPr/>
    </dgm:pt>
    <dgm:pt modelId="{8864BA1E-1941-4819-88C2-0D722EB65BCE}" type="pres">
      <dgm:prSet presAssocID="{F3434251-301C-4030-9B90-68D8947861C0}" presName="space" presStyleCnt="0"/>
      <dgm:spPr/>
    </dgm:pt>
    <dgm:pt modelId="{0D5FE160-655A-44F4-8076-2C3850924BCC}" type="pres">
      <dgm:prSet presAssocID="{A5867BD3-34DB-4FBB-BD19-8E270EA51026}" presName="text" presStyleLbl="node1" presStyleIdx="1" presStyleCnt="3" custScaleX="726722">
        <dgm:presLayoutVars>
          <dgm:bulletEnabled val="1"/>
        </dgm:presLayoutVars>
      </dgm:prSet>
      <dgm:spPr/>
    </dgm:pt>
    <dgm:pt modelId="{439BECD6-DFE2-4581-9AAA-87793BF11ACA}" type="pres">
      <dgm:prSet presAssocID="{BC8713FC-C9BE-4A75-B9CC-745A55C23122}" presName="space" presStyleCnt="0"/>
      <dgm:spPr/>
    </dgm:pt>
    <dgm:pt modelId="{23A63482-D9BE-46C7-9349-E780B47DAA5C}" type="pres">
      <dgm:prSet presAssocID="{B2478EC4-EB01-48A6-A681-8360FFF0E0D7}" presName="text" presStyleLbl="node1" presStyleIdx="2" presStyleCnt="3" custScaleX="731426">
        <dgm:presLayoutVars>
          <dgm:bulletEnabled val="1"/>
        </dgm:presLayoutVars>
      </dgm:prSet>
      <dgm:spPr/>
    </dgm:pt>
  </dgm:ptLst>
  <dgm:cxnLst>
    <dgm:cxn modelId="{969DE840-ECC8-4AA7-8D48-0281DA5C0E4C}" srcId="{44AB9C81-8225-4E0E-8751-5EF2440CD359}" destId="{B2478EC4-EB01-48A6-A681-8360FFF0E0D7}" srcOrd="2" destOrd="0" parTransId="{B36AAFD1-783F-429D-B5FF-B5B49A6A7C61}" sibTransId="{DB5F9C1E-8655-41D5-990C-64FC8DDFB750}"/>
    <dgm:cxn modelId="{2BF8CE75-7CD8-436F-A523-1B52F8883BB3}" type="presOf" srcId="{44AB9C81-8225-4E0E-8751-5EF2440CD359}" destId="{BC01A3E6-8CF7-41DF-8CC2-11B8A4D37044}" srcOrd="0" destOrd="0" presId="urn:diagrams.loki3.com/VaryingWidthList"/>
    <dgm:cxn modelId="{FBF37E78-EB1F-4DC3-B191-4E55E1CA2C8D}" srcId="{44AB9C81-8225-4E0E-8751-5EF2440CD359}" destId="{A5867BD3-34DB-4FBB-BD19-8E270EA51026}" srcOrd="1" destOrd="0" parTransId="{4D3971D7-C9B3-47CE-BEDF-349850F1091C}" sibTransId="{BC8713FC-C9BE-4A75-B9CC-745A55C23122}"/>
    <dgm:cxn modelId="{2AFEFA81-ED75-47A4-A540-F8357E5366D9}" type="presOf" srcId="{B2478EC4-EB01-48A6-A681-8360FFF0E0D7}" destId="{23A63482-D9BE-46C7-9349-E780B47DAA5C}" srcOrd="0" destOrd="0" presId="urn:diagrams.loki3.com/VaryingWidthList"/>
    <dgm:cxn modelId="{D2993FD3-E25D-45D4-B288-E144438771EF}" srcId="{44AB9C81-8225-4E0E-8751-5EF2440CD359}" destId="{1BFEF8EE-337E-480A-9BB3-62C9CE460B88}" srcOrd="0" destOrd="0" parTransId="{4FFFE954-CE7F-409D-8953-7E35C6A62D3A}" sibTransId="{F3434251-301C-4030-9B90-68D8947861C0}"/>
    <dgm:cxn modelId="{6F3FBEE2-A04D-44FE-B197-5BAF0AA7573E}" type="presOf" srcId="{1BFEF8EE-337E-480A-9BB3-62C9CE460B88}" destId="{6750F547-50FD-48A6-8AE1-D91F8237C777}" srcOrd="0" destOrd="0" presId="urn:diagrams.loki3.com/VaryingWidthList"/>
    <dgm:cxn modelId="{51D7C0FD-0512-40E1-9FB8-6DCC69D6B732}" type="presOf" srcId="{A5867BD3-34DB-4FBB-BD19-8E270EA51026}" destId="{0D5FE160-655A-44F4-8076-2C3850924BCC}" srcOrd="0" destOrd="0" presId="urn:diagrams.loki3.com/VaryingWidthList"/>
    <dgm:cxn modelId="{E8A445B0-CF6A-4DC1-A47C-2795FC103188}" type="presParOf" srcId="{BC01A3E6-8CF7-41DF-8CC2-11B8A4D37044}" destId="{6750F547-50FD-48A6-8AE1-D91F8237C777}" srcOrd="0" destOrd="0" presId="urn:diagrams.loki3.com/VaryingWidthList"/>
    <dgm:cxn modelId="{A9DFAD2D-EC61-4619-8047-07CDFF39A7C4}" type="presParOf" srcId="{BC01A3E6-8CF7-41DF-8CC2-11B8A4D37044}" destId="{8864BA1E-1941-4819-88C2-0D722EB65BCE}" srcOrd="1" destOrd="0" presId="urn:diagrams.loki3.com/VaryingWidthList"/>
    <dgm:cxn modelId="{2F6190FA-DA32-47AA-9CA8-662C75354118}" type="presParOf" srcId="{BC01A3E6-8CF7-41DF-8CC2-11B8A4D37044}" destId="{0D5FE160-655A-44F4-8076-2C3850924BCC}" srcOrd="2" destOrd="0" presId="urn:diagrams.loki3.com/VaryingWidthList"/>
    <dgm:cxn modelId="{B8C90CA0-4BFE-4ECC-8654-EBE8BB388A96}" type="presParOf" srcId="{BC01A3E6-8CF7-41DF-8CC2-11B8A4D37044}" destId="{439BECD6-DFE2-4581-9AAA-87793BF11ACA}" srcOrd="3" destOrd="0" presId="urn:diagrams.loki3.com/VaryingWidthList"/>
    <dgm:cxn modelId="{C83E9154-3AE2-406C-B875-1B6228C9980C}" type="presParOf" srcId="{BC01A3E6-8CF7-41DF-8CC2-11B8A4D37044}" destId="{23A63482-D9BE-46C7-9349-E780B47DAA5C}" srcOrd="4" destOrd="0" presId="urn:diagrams.loki3.com/VaryingWidthList"/>
  </dgm:cxnLst>
  <dgm:bg/>
  <dgm:whole>
    <a:ln>
      <a:solidFill>
        <a:schemeClr val="tx2">
          <a:lumMod val="10000"/>
          <a:lumOff val="9000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4AE03F-8AD2-4DFB-B9DA-A9956001AABA}" type="doc">
      <dgm:prSet loTypeId="urn:microsoft.com/office/officeart/2005/8/layout/process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7BB9FC2E-136A-4848-BA8D-785DECA83A97}">
      <dgm:prSet custT="1"/>
      <dgm:spPr/>
      <dgm:t>
        <a:bodyPr/>
        <a:lstStyle/>
        <a:p>
          <a:pPr algn="l"/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The space of potential prompts is explored by a Q-learning agent, which learns from previous interactions to choose the best prompts for producing high-quality outputs.</a:t>
          </a:r>
        </a:p>
      </dgm:t>
    </dgm:pt>
    <dgm:pt modelId="{B3E24739-6E7F-41AC-B653-09900CB72C44}" type="parTrans" cxnId="{91AEA4BE-B547-4C4A-A8B1-7266D302E9BF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24C0E60-B8D1-4022-B1F1-97D795F7FD50}" type="sibTrans" cxnId="{91AEA4BE-B547-4C4A-A8B1-7266D302E9BF}">
      <dgm:prSet custT="1"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7873207-3BBB-4E96-8F8C-10768A87E34C}">
      <dgm:prSet custT="1"/>
      <dgm:spPr/>
      <dgm:t>
        <a:bodyPr/>
        <a:lstStyle/>
        <a:p>
          <a:pPr algn="l"/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Learning rule (Q-learning):</a:t>
          </a:r>
        </a:p>
        <a:p>
          <a:pPr algn="l"/>
          <a:b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 The agent updates the value of each prompt template using</a:t>
          </a:r>
          <a:b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 Q[a] = Q[a] + α × (reward − Q[a]) with α = 0.2 and epsilon-greedy exploration,</a:t>
          </a:r>
          <a:b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 gradually favoring the prompts that produce better summaries.</a:t>
          </a:r>
        </a:p>
      </dgm:t>
    </dgm:pt>
    <dgm:pt modelId="{F6E4A2FE-E196-4AC3-AA6B-B66FCEF3754E}" type="parTrans" cxnId="{DEB91790-465C-48EB-861D-221D0E4E1612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91C48D7-7AC8-4CCF-8713-48CBCD75F668}" type="sibTrans" cxnId="{DEB91790-465C-48EB-861D-221D0E4E1612}">
      <dgm:prSet custT="1"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92C068-81AE-4DDB-A156-94BF60D02508}">
      <dgm:prSet custT="1"/>
      <dgm:spPr/>
      <dgm:t>
        <a:bodyPr/>
        <a:lstStyle/>
        <a:p>
          <a:pPr algn="l"/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Exploration Vs Exploitation :</a:t>
          </a:r>
        </a:p>
        <a:p>
          <a:pPr algn="l"/>
          <a:endParaRPr lang="en-US" sz="1400" b="1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l"/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Finding the right balance between exploration (trying new prompts) and exploitation (choosing the most well-known prompts) is crucial to Q-learning. In order to prevent the model from stagnating and to keep finding potentially better prompts that improve response quality, this trade-off is crucial.</a:t>
          </a:r>
        </a:p>
      </dgm:t>
    </dgm:pt>
    <dgm:pt modelId="{B0AF1962-7900-4E13-96D0-E6E5E46A8161}" type="parTrans" cxnId="{9259FBF2-54D8-4E75-8819-E5FEB4CE9213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B7D3931-853A-4EA7-98C3-D3D59FFCA0AA}" type="sibTrans" cxnId="{9259FBF2-54D8-4E75-8819-E5FEB4CE9213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0E3B74-7B7C-44DC-B0AF-11F8F6612E79}" type="pres">
      <dgm:prSet presAssocID="{B84AE03F-8AD2-4DFB-B9DA-A9956001AABA}" presName="Name0" presStyleCnt="0">
        <dgm:presLayoutVars>
          <dgm:dir/>
          <dgm:resizeHandles val="exact"/>
        </dgm:presLayoutVars>
      </dgm:prSet>
      <dgm:spPr/>
    </dgm:pt>
    <dgm:pt modelId="{1377B62D-4343-4766-95C4-36AFF7F79C12}" type="pres">
      <dgm:prSet presAssocID="{7BB9FC2E-136A-4848-BA8D-785DECA83A97}" presName="node" presStyleLbl="node1" presStyleIdx="0" presStyleCnt="3">
        <dgm:presLayoutVars>
          <dgm:bulletEnabled val="1"/>
        </dgm:presLayoutVars>
      </dgm:prSet>
      <dgm:spPr/>
    </dgm:pt>
    <dgm:pt modelId="{430A406F-06DD-43FA-8149-8A09FF6D519F}" type="pres">
      <dgm:prSet presAssocID="{324C0E60-B8D1-4022-B1F1-97D795F7FD50}" presName="sibTrans" presStyleLbl="sibTrans2D1" presStyleIdx="0" presStyleCnt="2" custScaleY="53601"/>
      <dgm:spPr/>
    </dgm:pt>
    <dgm:pt modelId="{6EEB5025-EBE3-42CF-BC0B-E333395CC8E0}" type="pres">
      <dgm:prSet presAssocID="{324C0E60-B8D1-4022-B1F1-97D795F7FD50}" presName="connectorText" presStyleLbl="sibTrans2D1" presStyleIdx="0" presStyleCnt="2"/>
      <dgm:spPr/>
    </dgm:pt>
    <dgm:pt modelId="{186BFB21-19A8-4F46-A8D5-E0A4685EA8FC}" type="pres">
      <dgm:prSet presAssocID="{A7873207-3BBB-4E96-8F8C-10768A87E34C}" presName="node" presStyleLbl="node1" presStyleIdx="1" presStyleCnt="3">
        <dgm:presLayoutVars>
          <dgm:bulletEnabled val="1"/>
        </dgm:presLayoutVars>
      </dgm:prSet>
      <dgm:spPr/>
    </dgm:pt>
    <dgm:pt modelId="{954F2266-C25B-4ABA-9916-A63EC1FA60F8}" type="pres">
      <dgm:prSet presAssocID="{191C48D7-7AC8-4CCF-8713-48CBCD75F668}" presName="sibTrans" presStyleLbl="sibTrans2D1" presStyleIdx="1" presStyleCnt="2" custScaleY="53601"/>
      <dgm:spPr/>
    </dgm:pt>
    <dgm:pt modelId="{170BF5A2-5002-4E76-BDC5-876A8DA7D4E9}" type="pres">
      <dgm:prSet presAssocID="{191C48D7-7AC8-4CCF-8713-48CBCD75F668}" presName="connectorText" presStyleLbl="sibTrans2D1" presStyleIdx="1" presStyleCnt="2"/>
      <dgm:spPr/>
    </dgm:pt>
    <dgm:pt modelId="{B3E06C34-EAE3-42E8-8A55-A92BCA207E7D}" type="pres">
      <dgm:prSet presAssocID="{F392C068-81AE-4DDB-A156-94BF60D02508}" presName="node" presStyleLbl="node1" presStyleIdx="2" presStyleCnt="3">
        <dgm:presLayoutVars>
          <dgm:bulletEnabled val="1"/>
        </dgm:presLayoutVars>
      </dgm:prSet>
      <dgm:spPr/>
    </dgm:pt>
  </dgm:ptLst>
  <dgm:cxnLst>
    <dgm:cxn modelId="{91750A20-9133-494C-A9D6-DE1C1AAC4901}" type="presOf" srcId="{A7873207-3BBB-4E96-8F8C-10768A87E34C}" destId="{186BFB21-19A8-4F46-A8D5-E0A4685EA8FC}" srcOrd="0" destOrd="0" presId="urn:microsoft.com/office/officeart/2005/8/layout/process1"/>
    <dgm:cxn modelId="{C53CF82E-1E32-4C74-8B8C-CAD6B63A28E8}" type="presOf" srcId="{324C0E60-B8D1-4022-B1F1-97D795F7FD50}" destId="{430A406F-06DD-43FA-8149-8A09FF6D519F}" srcOrd="0" destOrd="0" presId="urn:microsoft.com/office/officeart/2005/8/layout/process1"/>
    <dgm:cxn modelId="{DD85E234-ED5D-49EC-A1C3-9E25B60EFB79}" type="presOf" srcId="{7BB9FC2E-136A-4848-BA8D-785DECA83A97}" destId="{1377B62D-4343-4766-95C4-36AFF7F79C12}" srcOrd="0" destOrd="0" presId="urn:microsoft.com/office/officeart/2005/8/layout/process1"/>
    <dgm:cxn modelId="{451AF435-0EC7-4D0F-B858-8C5B53BA1A58}" type="presOf" srcId="{191C48D7-7AC8-4CCF-8713-48CBCD75F668}" destId="{954F2266-C25B-4ABA-9916-A63EC1FA60F8}" srcOrd="0" destOrd="0" presId="urn:microsoft.com/office/officeart/2005/8/layout/process1"/>
    <dgm:cxn modelId="{DEB91790-465C-48EB-861D-221D0E4E1612}" srcId="{B84AE03F-8AD2-4DFB-B9DA-A9956001AABA}" destId="{A7873207-3BBB-4E96-8F8C-10768A87E34C}" srcOrd="1" destOrd="0" parTransId="{F6E4A2FE-E196-4AC3-AA6B-B66FCEF3754E}" sibTransId="{191C48D7-7AC8-4CCF-8713-48CBCD75F668}"/>
    <dgm:cxn modelId="{27D9A8BA-D911-4925-9478-FA8F6BD3DDE2}" type="presOf" srcId="{F392C068-81AE-4DDB-A156-94BF60D02508}" destId="{B3E06C34-EAE3-42E8-8A55-A92BCA207E7D}" srcOrd="0" destOrd="0" presId="urn:microsoft.com/office/officeart/2005/8/layout/process1"/>
    <dgm:cxn modelId="{85D2AABA-4912-42B2-9EA9-9F699EE671C1}" type="presOf" srcId="{191C48D7-7AC8-4CCF-8713-48CBCD75F668}" destId="{170BF5A2-5002-4E76-BDC5-876A8DA7D4E9}" srcOrd="1" destOrd="0" presId="urn:microsoft.com/office/officeart/2005/8/layout/process1"/>
    <dgm:cxn modelId="{91AEA4BE-B547-4C4A-A8B1-7266D302E9BF}" srcId="{B84AE03F-8AD2-4DFB-B9DA-A9956001AABA}" destId="{7BB9FC2E-136A-4848-BA8D-785DECA83A97}" srcOrd="0" destOrd="0" parTransId="{B3E24739-6E7F-41AC-B653-09900CB72C44}" sibTransId="{324C0E60-B8D1-4022-B1F1-97D795F7FD50}"/>
    <dgm:cxn modelId="{C080FACB-7865-42A1-A14C-5A1FC8556CBC}" type="presOf" srcId="{324C0E60-B8D1-4022-B1F1-97D795F7FD50}" destId="{6EEB5025-EBE3-42CF-BC0B-E333395CC8E0}" srcOrd="1" destOrd="0" presId="urn:microsoft.com/office/officeart/2005/8/layout/process1"/>
    <dgm:cxn modelId="{D766AADF-7E71-44FF-9B32-EC8AF8CB6E79}" type="presOf" srcId="{B84AE03F-8AD2-4DFB-B9DA-A9956001AABA}" destId="{C60E3B74-7B7C-44DC-B0AF-11F8F6612E79}" srcOrd="0" destOrd="0" presId="urn:microsoft.com/office/officeart/2005/8/layout/process1"/>
    <dgm:cxn modelId="{9259FBF2-54D8-4E75-8819-E5FEB4CE9213}" srcId="{B84AE03F-8AD2-4DFB-B9DA-A9956001AABA}" destId="{F392C068-81AE-4DDB-A156-94BF60D02508}" srcOrd="2" destOrd="0" parTransId="{B0AF1962-7900-4E13-96D0-E6E5E46A8161}" sibTransId="{CB7D3931-853A-4EA7-98C3-D3D59FFCA0AA}"/>
    <dgm:cxn modelId="{B80F6092-DDE3-4579-BBA7-B9C30A8C1425}" type="presParOf" srcId="{C60E3B74-7B7C-44DC-B0AF-11F8F6612E79}" destId="{1377B62D-4343-4766-95C4-36AFF7F79C12}" srcOrd="0" destOrd="0" presId="urn:microsoft.com/office/officeart/2005/8/layout/process1"/>
    <dgm:cxn modelId="{2AC089E9-96DC-40CE-9F3E-4B58E9F0B359}" type="presParOf" srcId="{C60E3B74-7B7C-44DC-B0AF-11F8F6612E79}" destId="{430A406F-06DD-43FA-8149-8A09FF6D519F}" srcOrd="1" destOrd="0" presId="urn:microsoft.com/office/officeart/2005/8/layout/process1"/>
    <dgm:cxn modelId="{ED6DE0EB-AD82-4D71-9E2C-58F28443ACE5}" type="presParOf" srcId="{430A406F-06DD-43FA-8149-8A09FF6D519F}" destId="{6EEB5025-EBE3-42CF-BC0B-E333395CC8E0}" srcOrd="0" destOrd="0" presId="urn:microsoft.com/office/officeart/2005/8/layout/process1"/>
    <dgm:cxn modelId="{66E0AAEF-6276-45A8-9925-9DADFFC8E07C}" type="presParOf" srcId="{C60E3B74-7B7C-44DC-B0AF-11F8F6612E79}" destId="{186BFB21-19A8-4F46-A8D5-E0A4685EA8FC}" srcOrd="2" destOrd="0" presId="urn:microsoft.com/office/officeart/2005/8/layout/process1"/>
    <dgm:cxn modelId="{190DFC4B-BC9F-4737-B0E8-BA58DA3F46F9}" type="presParOf" srcId="{C60E3B74-7B7C-44DC-B0AF-11F8F6612E79}" destId="{954F2266-C25B-4ABA-9916-A63EC1FA60F8}" srcOrd="3" destOrd="0" presId="urn:microsoft.com/office/officeart/2005/8/layout/process1"/>
    <dgm:cxn modelId="{4E727542-9494-4C12-8859-320030F2C2B2}" type="presParOf" srcId="{954F2266-C25B-4ABA-9916-A63EC1FA60F8}" destId="{170BF5A2-5002-4E76-BDC5-876A8DA7D4E9}" srcOrd="0" destOrd="0" presId="urn:microsoft.com/office/officeart/2005/8/layout/process1"/>
    <dgm:cxn modelId="{B2096FB5-1ED5-401B-9045-A04D2F18B14C}" type="presParOf" srcId="{C60E3B74-7B7C-44DC-B0AF-11F8F6612E79}" destId="{B3E06C34-EAE3-42E8-8A55-A92BCA207E7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DA089E-96DB-4AE1-A568-DB3C2EE87B71}">
      <dsp:nvSpPr>
        <dsp:cNvPr id="0" name=""/>
        <dsp:cNvSpPr/>
      </dsp:nvSpPr>
      <dsp:spPr>
        <a:xfrm>
          <a:off x="114562" y="693921"/>
          <a:ext cx="2932245" cy="11751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cap="none" dirty="0">
              <a:latin typeface="Arial" panose="020B0604020202020204" pitchFamily="34" charset="0"/>
              <a:cs typeface="Arial" panose="020B0604020202020204" pitchFamily="34" charset="0"/>
            </a:rPr>
            <a:t>Large language models (LLMs) are now widely used for many NLP tasks, but their outputs are highly sensitive to how the input prompt is written.</a:t>
          </a:r>
          <a:br>
            <a:rPr lang="en-US" sz="1400" kern="1200" cap="none" dirty="0">
              <a:latin typeface="Arial" panose="020B0604020202020204" pitchFamily="34" charset="0"/>
              <a:cs typeface="Arial" panose="020B0604020202020204" pitchFamily="34" charset="0"/>
            </a:rPr>
          </a:br>
          <a:endParaRPr lang="en-US" sz="1400" kern="1200" cap="none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4562" y="693921"/>
        <a:ext cx="2932245" cy="1175138"/>
      </dsp:txXfrm>
    </dsp:sp>
    <dsp:sp modelId="{31148D47-C45B-4776-B3C3-D7094BB4567F}">
      <dsp:nvSpPr>
        <dsp:cNvPr id="0" name=""/>
        <dsp:cNvSpPr/>
      </dsp:nvSpPr>
      <dsp:spPr>
        <a:xfrm>
          <a:off x="3189402" y="704283"/>
          <a:ext cx="3079736" cy="11290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cap="none" dirty="0">
              <a:latin typeface="Arial" panose="020B0604020202020204" pitchFamily="34" charset="0"/>
              <a:cs typeface="Arial" panose="020B0604020202020204" pitchFamily="34" charset="0"/>
            </a:rPr>
            <a:t>Their behavior is highly prompt dependent: well designed prompts improve clarity and correctness, while poor prompts cause irrelevant, verbose, or inaccurate outputs.</a:t>
          </a:r>
          <a:br>
            <a:rPr lang="en-US" sz="1400" kern="1200" cap="none" dirty="0">
              <a:latin typeface="Arial" panose="020B0604020202020204" pitchFamily="34" charset="0"/>
              <a:cs typeface="Arial" panose="020B0604020202020204" pitchFamily="34" charset="0"/>
            </a:rPr>
          </a:br>
          <a:endParaRPr lang="en-US" sz="1400" kern="1200" cap="none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89402" y="704283"/>
        <a:ext cx="3079736" cy="1129043"/>
      </dsp:txXfrm>
    </dsp:sp>
    <dsp:sp modelId="{0FFF7C9F-1AD9-40F8-946A-739EA0BA3FBD}">
      <dsp:nvSpPr>
        <dsp:cNvPr id="0" name=""/>
        <dsp:cNvSpPr/>
      </dsp:nvSpPr>
      <dsp:spPr>
        <a:xfrm>
          <a:off x="6421557" y="701629"/>
          <a:ext cx="2932245" cy="12575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cap="none" dirty="0">
              <a:latin typeface="Arial" panose="020B0604020202020204" pitchFamily="34" charset="0"/>
              <a:cs typeface="Arial" panose="020B0604020202020204" pitchFamily="34" charset="0"/>
            </a:rPr>
            <a:t>Manual prompt engineering is subjective, slow, and hard to scale because it relies on expert intuition and repeated trial and error.</a:t>
          </a:r>
          <a:br>
            <a:rPr lang="en-US" sz="1400" kern="1200" cap="none" dirty="0">
              <a:latin typeface="Arial" panose="020B0604020202020204" pitchFamily="34" charset="0"/>
              <a:cs typeface="Arial" panose="020B0604020202020204" pitchFamily="34" charset="0"/>
            </a:rPr>
          </a:br>
          <a:endParaRPr lang="en-US" sz="1400" kern="1200" cap="none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421557" y="701629"/>
        <a:ext cx="2932245" cy="1257528"/>
      </dsp:txXfrm>
    </dsp:sp>
    <dsp:sp modelId="{65F082F2-2C20-4768-85ED-B33ECA23F347}">
      <dsp:nvSpPr>
        <dsp:cNvPr id="0" name=""/>
        <dsp:cNvSpPr/>
      </dsp:nvSpPr>
      <dsp:spPr>
        <a:xfrm>
          <a:off x="1733631" y="2155633"/>
          <a:ext cx="2932245" cy="136032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cap="none" dirty="0">
              <a:latin typeface="Arial" panose="020B0604020202020204" pitchFamily="34" charset="0"/>
              <a:cs typeface="Arial" panose="020B0604020202020204" pitchFamily="34" charset="0"/>
            </a:rPr>
            <a:t>RLHF has shown that reinforcement learning can align LLMs with human preferences, but it typically needs costly human feedback, reward models, and significant compute.</a:t>
          </a:r>
          <a:br>
            <a:rPr lang="en-US" sz="1400" kern="1200" cap="none" dirty="0">
              <a:latin typeface="Arial" panose="020B0604020202020204" pitchFamily="34" charset="0"/>
              <a:cs typeface="Arial" panose="020B0604020202020204" pitchFamily="34" charset="0"/>
            </a:rPr>
          </a:br>
          <a:endParaRPr lang="en-US" sz="1400" kern="1200" cap="none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33631" y="2155633"/>
        <a:ext cx="2932245" cy="1360327"/>
      </dsp:txXfrm>
    </dsp:sp>
    <dsp:sp modelId="{93894BB5-9F3F-41B5-9958-1B0C50B53FA9}">
      <dsp:nvSpPr>
        <dsp:cNvPr id="0" name=""/>
        <dsp:cNvSpPr/>
      </dsp:nvSpPr>
      <dsp:spPr>
        <a:xfrm>
          <a:off x="5150371" y="2192764"/>
          <a:ext cx="2932245" cy="13007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cap="none" dirty="0">
              <a:latin typeface="Arial" panose="020B0604020202020204" pitchFamily="34" charset="0"/>
              <a:cs typeface="Arial" panose="020B0604020202020204" pitchFamily="34" charset="0"/>
            </a:rPr>
            <a:t>Adaptive prompt optimization aims to automate this process by treating prompt selection as a learning problem, where an agent iteratively improves prompts based on feedback.</a:t>
          </a:r>
        </a:p>
      </dsp:txBody>
      <dsp:txXfrm>
        <a:off x="5150371" y="2192764"/>
        <a:ext cx="2932245" cy="13007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8B77AE-6075-49FC-95AF-01202CD51719}">
      <dsp:nvSpPr>
        <dsp:cNvPr id="0" name=""/>
        <dsp:cNvSpPr/>
      </dsp:nvSpPr>
      <dsp:spPr>
        <a:xfrm>
          <a:off x="0" y="118143"/>
          <a:ext cx="4157133" cy="44226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Dataset Preparation</a:t>
          </a:r>
        </a:p>
      </dsp:txBody>
      <dsp:txXfrm>
        <a:off x="21589" y="139732"/>
        <a:ext cx="4113955" cy="399082"/>
      </dsp:txXfrm>
    </dsp:sp>
    <dsp:sp modelId="{8CB90F13-A649-45D8-8D01-11BF30EC3F53}">
      <dsp:nvSpPr>
        <dsp:cNvPr id="0" name=""/>
        <dsp:cNvSpPr/>
      </dsp:nvSpPr>
      <dsp:spPr>
        <a:xfrm>
          <a:off x="0" y="560403"/>
          <a:ext cx="4157133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8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Load text passages &amp; reference summaries</a:t>
          </a:r>
        </a:p>
      </dsp:txBody>
      <dsp:txXfrm>
        <a:off x="0" y="560403"/>
        <a:ext cx="4157133" cy="298080"/>
      </dsp:txXfrm>
    </dsp:sp>
    <dsp:sp modelId="{AB22743B-CF83-46A9-A37A-1B50CA930AEC}">
      <dsp:nvSpPr>
        <dsp:cNvPr id="0" name=""/>
        <dsp:cNvSpPr/>
      </dsp:nvSpPr>
      <dsp:spPr>
        <a:xfrm>
          <a:off x="0" y="858483"/>
          <a:ext cx="4157133" cy="44226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Load FLAN-T5 Base</a:t>
          </a:r>
        </a:p>
      </dsp:txBody>
      <dsp:txXfrm>
        <a:off x="21589" y="880072"/>
        <a:ext cx="4113955" cy="399082"/>
      </dsp:txXfrm>
    </dsp:sp>
    <dsp:sp modelId="{3B038128-6133-4C08-A419-C5D61CB18EFE}">
      <dsp:nvSpPr>
        <dsp:cNvPr id="0" name=""/>
        <dsp:cNvSpPr/>
      </dsp:nvSpPr>
      <dsp:spPr>
        <a:xfrm>
          <a:off x="0" y="1300743"/>
          <a:ext cx="4157133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8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Use as frozen target LLM</a:t>
          </a:r>
        </a:p>
      </dsp:txBody>
      <dsp:txXfrm>
        <a:off x="0" y="1300743"/>
        <a:ext cx="4157133" cy="298080"/>
      </dsp:txXfrm>
    </dsp:sp>
    <dsp:sp modelId="{5D3221CA-E7D7-45A8-978F-E706FC904CCA}">
      <dsp:nvSpPr>
        <dsp:cNvPr id="0" name=""/>
        <dsp:cNvSpPr/>
      </dsp:nvSpPr>
      <dsp:spPr>
        <a:xfrm>
          <a:off x="0" y="1598823"/>
          <a:ext cx="4157133" cy="44226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Define Template Pool</a:t>
          </a:r>
        </a:p>
      </dsp:txBody>
      <dsp:txXfrm>
        <a:off x="21589" y="1620412"/>
        <a:ext cx="4113955" cy="399082"/>
      </dsp:txXfrm>
    </dsp:sp>
    <dsp:sp modelId="{B27EEA87-252E-41DC-9B9B-110415A3FDD1}">
      <dsp:nvSpPr>
        <dsp:cNvPr id="0" name=""/>
        <dsp:cNvSpPr/>
      </dsp:nvSpPr>
      <dsp:spPr>
        <a:xfrm>
          <a:off x="0" y="2041083"/>
          <a:ext cx="4157133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8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Create candidate prompts</a:t>
          </a:r>
        </a:p>
      </dsp:txBody>
      <dsp:txXfrm>
        <a:off x="0" y="2041083"/>
        <a:ext cx="4157133" cy="298080"/>
      </dsp:txXfrm>
    </dsp:sp>
    <dsp:sp modelId="{9D23E495-CA61-4F9F-90DC-CE4AA27CB0F7}">
      <dsp:nvSpPr>
        <dsp:cNvPr id="0" name=""/>
        <dsp:cNvSpPr/>
      </dsp:nvSpPr>
      <dsp:spPr>
        <a:xfrm>
          <a:off x="0" y="2339163"/>
          <a:ext cx="4157133" cy="44226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RL Loop</a:t>
          </a:r>
        </a:p>
      </dsp:txBody>
      <dsp:txXfrm>
        <a:off x="21589" y="2360752"/>
        <a:ext cx="4113955" cy="399082"/>
      </dsp:txXfrm>
    </dsp:sp>
    <dsp:sp modelId="{79C2C08C-D8FD-4513-B7EE-89C41B2DF464}">
      <dsp:nvSpPr>
        <dsp:cNvPr id="0" name=""/>
        <dsp:cNvSpPr/>
      </dsp:nvSpPr>
      <dsp:spPr>
        <a:xfrm>
          <a:off x="0" y="2781423"/>
          <a:ext cx="4157133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8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Run Q-learning for 50 iterations</a:t>
          </a:r>
        </a:p>
      </dsp:txBody>
      <dsp:txXfrm>
        <a:off x="0" y="2781423"/>
        <a:ext cx="4157133" cy="298080"/>
      </dsp:txXfrm>
    </dsp:sp>
    <dsp:sp modelId="{BB97B3F8-B429-4C8F-AE27-94418460CE87}">
      <dsp:nvSpPr>
        <dsp:cNvPr id="0" name=""/>
        <dsp:cNvSpPr/>
      </dsp:nvSpPr>
      <dsp:spPr>
        <a:xfrm>
          <a:off x="0" y="3079503"/>
          <a:ext cx="4157133" cy="44226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Reward Function</a:t>
          </a:r>
        </a:p>
      </dsp:txBody>
      <dsp:txXfrm>
        <a:off x="21589" y="3101092"/>
        <a:ext cx="4113955" cy="399082"/>
      </dsp:txXfrm>
    </dsp:sp>
    <dsp:sp modelId="{3D80F77C-26D4-4A14-81EE-87BD40AE2184}">
      <dsp:nvSpPr>
        <dsp:cNvPr id="0" name=""/>
        <dsp:cNvSpPr/>
      </dsp:nvSpPr>
      <dsp:spPr>
        <a:xfrm>
          <a:off x="0" y="3521763"/>
          <a:ext cx="4157133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8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Use ROUGE+BLEU</a:t>
          </a:r>
        </a:p>
      </dsp:txBody>
      <dsp:txXfrm>
        <a:off x="0" y="3521763"/>
        <a:ext cx="4157133" cy="298080"/>
      </dsp:txXfrm>
    </dsp:sp>
    <dsp:sp modelId="{0BD344B5-5998-4909-97F0-CF78FD5FF208}">
      <dsp:nvSpPr>
        <dsp:cNvPr id="0" name=""/>
        <dsp:cNvSpPr/>
      </dsp:nvSpPr>
      <dsp:spPr>
        <a:xfrm>
          <a:off x="0" y="3819843"/>
          <a:ext cx="4157133" cy="44226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3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Identify Optimized Prompt</a:t>
          </a:r>
        </a:p>
      </dsp:txBody>
      <dsp:txXfrm>
        <a:off x="21589" y="3841432"/>
        <a:ext cx="4113955" cy="399082"/>
      </dsp:txXfrm>
    </dsp:sp>
    <dsp:sp modelId="{2B0F8E47-13BE-423D-A65B-5446511EC91D}">
      <dsp:nvSpPr>
        <dsp:cNvPr id="0" name=""/>
        <dsp:cNvSpPr/>
      </dsp:nvSpPr>
      <dsp:spPr>
        <a:xfrm>
          <a:off x="0" y="4262103"/>
          <a:ext cx="4157133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8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Select highest-Q template</a:t>
          </a:r>
        </a:p>
      </dsp:txBody>
      <dsp:txXfrm>
        <a:off x="0" y="4262103"/>
        <a:ext cx="4157133" cy="298080"/>
      </dsp:txXfrm>
    </dsp:sp>
    <dsp:sp modelId="{C3E1405E-1B93-4351-8298-B7349E64C7BC}">
      <dsp:nvSpPr>
        <dsp:cNvPr id="0" name=""/>
        <dsp:cNvSpPr/>
      </dsp:nvSpPr>
      <dsp:spPr>
        <a:xfrm>
          <a:off x="0" y="4560183"/>
          <a:ext cx="4157133" cy="44226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Evaluate Before vs After</a:t>
          </a:r>
        </a:p>
      </dsp:txBody>
      <dsp:txXfrm>
        <a:off x="21589" y="4581772"/>
        <a:ext cx="4113955" cy="399082"/>
      </dsp:txXfrm>
    </dsp:sp>
    <dsp:sp modelId="{22762C62-A5EA-4618-B1EB-E8D5051FE21F}">
      <dsp:nvSpPr>
        <dsp:cNvPr id="0" name=""/>
        <dsp:cNvSpPr/>
      </dsp:nvSpPr>
      <dsp:spPr>
        <a:xfrm>
          <a:off x="0" y="5002443"/>
          <a:ext cx="4157133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8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Compare rewards on test inputs</a:t>
          </a:r>
        </a:p>
      </dsp:txBody>
      <dsp:txXfrm>
        <a:off x="0" y="5002443"/>
        <a:ext cx="4157133" cy="2980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50F547-50FD-48A6-8AE1-D91F8237C777}">
      <dsp:nvSpPr>
        <dsp:cNvPr id="0" name=""/>
        <dsp:cNvSpPr/>
      </dsp:nvSpPr>
      <dsp:spPr>
        <a:xfrm>
          <a:off x="0" y="1135"/>
          <a:ext cx="6652097" cy="749742"/>
        </a:xfrm>
        <a:prstGeom prst="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tx2">
              <a:lumMod val="10000"/>
              <a:lumOff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Q-Learning Prompt Optimization</a:t>
          </a:r>
        </a:p>
      </dsp:txBody>
      <dsp:txXfrm>
        <a:off x="0" y="1135"/>
        <a:ext cx="6652097" cy="749742"/>
      </dsp:txXfrm>
    </dsp:sp>
    <dsp:sp modelId="{0D5FE160-655A-44F4-8076-2C3850924BCC}">
      <dsp:nvSpPr>
        <dsp:cNvPr id="0" name=""/>
        <dsp:cNvSpPr/>
      </dsp:nvSpPr>
      <dsp:spPr>
        <a:xfrm>
          <a:off x="0" y="788366"/>
          <a:ext cx="6652097" cy="749742"/>
        </a:xfrm>
        <a:prstGeom prst="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Reward Function based ROUGE, BLEU</a:t>
          </a:r>
        </a:p>
      </dsp:txBody>
      <dsp:txXfrm>
        <a:off x="0" y="788366"/>
        <a:ext cx="6652097" cy="749742"/>
      </dsp:txXfrm>
    </dsp:sp>
    <dsp:sp modelId="{23A63482-D9BE-46C7-9349-E780B47DAA5C}">
      <dsp:nvSpPr>
        <dsp:cNvPr id="0" name=""/>
        <dsp:cNvSpPr/>
      </dsp:nvSpPr>
      <dsp:spPr>
        <a:xfrm>
          <a:off x="0" y="1575596"/>
          <a:ext cx="6652097" cy="749742"/>
        </a:xfrm>
        <a:prstGeom prst="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Use of key libraries (Transformers , Torch etc.)</a:t>
          </a:r>
        </a:p>
      </dsp:txBody>
      <dsp:txXfrm>
        <a:off x="0" y="1575596"/>
        <a:ext cx="6652097" cy="7497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7B62D-4343-4766-95C4-36AFF7F79C12}">
      <dsp:nvSpPr>
        <dsp:cNvPr id="0" name=""/>
        <dsp:cNvSpPr/>
      </dsp:nvSpPr>
      <dsp:spPr>
        <a:xfrm>
          <a:off x="9548" y="94800"/>
          <a:ext cx="2853967" cy="26806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The space of potential prompts is explored by a Q-learning agent, which learns from previous interactions to choose the best prompts for producing high-quality outputs.</a:t>
          </a:r>
        </a:p>
      </dsp:txBody>
      <dsp:txXfrm>
        <a:off x="88060" y="173312"/>
        <a:ext cx="2696943" cy="2523587"/>
      </dsp:txXfrm>
    </dsp:sp>
    <dsp:sp modelId="{430A406F-06DD-43FA-8149-8A09FF6D519F}">
      <dsp:nvSpPr>
        <dsp:cNvPr id="0" name=""/>
        <dsp:cNvSpPr/>
      </dsp:nvSpPr>
      <dsp:spPr>
        <a:xfrm>
          <a:off x="3148912" y="1245416"/>
          <a:ext cx="605041" cy="3793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48912" y="1321292"/>
        <a:ext cx="491227" cy="227627"/>
      </dsp:txXfrm>
    </dsp:sp>
    <dsp:sp modelId="{186BFB21-19A8-4F46-A8D5-E0A4685EA8FC}">
      <dsp:nvSpPr>
        <dsp:cNvPr id="0" name=""/>
        <dsp:cNvSpPr/>
      </dsp:nvSpPr>
      <dsp:spPr>
        <a:xfrm>
          <a:off x="4005103" y="94800"/>
          <a:ext cx="2853967" cy="26806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Learning rule (Q-learning):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 The agent updates the value of each prompt template using</a:t>
          </a:r>
          <a:b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 Q[a] = Q[a] + α × (reward − Q[a]) with α = 0.2 and epsilon-greedy exploration,</a:t>
          </a:r>
          <a:b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 gradually favoring the prompts that produce better summaries.</a:t>
          </a:r>
        </a:p>
      </dsp:txBody>
      <dsp:txXfrm>
        <a:off x="4083615" y="173312"/>
        <a:ext cx="2696943" cy="2523587"/>
      </dsp:txXfrm>
    </dsp:sp>
    <dsp:sp modelId="{954F2266-C25B-4ABA-9916-A63EC1FA60F8}">
      <dsp:nvSpPr>
        <dsp:cNvPr id="0" name=""/>
        <dsp:cNvSpPr/>
      </dsp:nvSpPr>
      <dsp:spPr>
        <a:xfrm>
          <a:off x="7144467" y="1245416"/>
          <a:ext cx="605041" cy="3793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144467" y="1321292"/>
        <a:ext cx="491227" cy="227627"/>
      </dsp:txXfrm>
    </dsp:sp>
    <dsp:sp modelId="{B3E06C34-EAE3-42E8-8A55-A92BCA207E7D}">
      <dsp:nvSpPr>
        <dsp:cNvPr id="0" name=""/>
        <dsp:cNvSpPr/>
      </dsp:nvSpPr>
      <dsp:spPr>
        <a:xfrm>
          <a:off x="8000657" y="94800"/>
          <a:ext cx="2853967" cy="26806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Exploration Vs Exploitation 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Finding the right balance between exploration (trying new prompts) and exploitation (choosing the most well-known prompts) is crucial to Q-learning. In order to prevent the model from stagnating and to keep finding potentially better prompts that improve response quality, this trade-off is crucial.</a:t>
          </a:r>
        </a:p>
      </dsp:txBody>
      <dsp:txXfrm>
        <a:off x="8079169" y="173312"/>
        <a:ext cx="2696943" cy="25235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A93FC3-AACE-48DC-8193-CC53747D078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AE5FA-BC3D-4A89-BC25-ECF7D85E7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99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AE5FA-BC3D-4A89-BC25-ECF7D85E7C7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0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5B414-0A31-E36E-82E6-9D46E01E1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03CD6-B220-E3A0-CE1C-2DDF6B078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55FBC-8BB9-6AAB-4EFA-9BE616D6C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D3352-2130-4351-8C4C-3B48CC1C8D79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3064F-4FFB-FB82-899C-6DA25F30E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0F27D-2988-D642-BDD6-C6F2CDA2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76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CEFE-8100-6DE5-439D-C6903A21E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D2169-C001-8D66-A987-0A8B1BCAD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4014C-B117-D9C7-C7BB-54360BE1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6338B-6C05-4666-93A1-29DED2DB9192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63491-CCD0-70AC-3E8B-040AB51BF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3DB8E-34B0-E38C-D17F-0CE0B352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7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A4904-0E92-2E52-63D9-5BB783B5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3097C-E42E-1BD3-C5F6-F1807D25C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09100-659B-E909-F16F-85AEC589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0434-B5CE-4619-B412-37915F483E1B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5C4C7-E5AE-75CC-A953-BB79D77D3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43781-FB95-911F-887B-5BB3EEF3C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331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2BCBE-0466-E8C8-713D-D96D69B12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B2E51-FA11-7C16-87F8-1203CAB15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2CB69-DEFD-228D-C643-592666817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0CFB6-D90E-3AAC-8F3F-630A1D2C2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0EF2-AD99-48BE-9072-F93A03D9F63F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180D9-A4FA-9EE9-7DC6-23F38CFAF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58398-42E1-A109-8BC9-CC1C72625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934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3C4B6-16EC-C417-287A-BA8D0BCE1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FC06D-A027-1856-00F8-A0864BCE7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9E3E-6C47-83E9-9431-06585326D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2BEDB3-A075-BB8E-ADA8-4A13C0B97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383002-92A4-08E6-6AE3-0F7858BB08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563122-1855-6D4A-E61C-A1C505B77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EA1A-8EDF-45E3-9E89-D13AAEF2D140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06D129-4EA1-3134-776A-E14599D09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E0C109-3A94-1FDB-D87E-590A713E1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11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86469-A790-8B3B-7843-5D3736DC6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B4BC72-036E-5AE0-0D8E-CD465ACA6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CC4FA-83A5-45DF-A217-ED5BBDFD5632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460E4B-E17C-2D50-8B39-A126F976F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E2B71-FABF-4592-0C29-D4B4BF9F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4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CF909-FA10-DB99-0C2B-E235025E2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D1E0-D0E5-4757-BF8D-98EF1C133169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3BB1C8-153A-EDAE-8245-5DC0682C3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DF2C8-C26B-AD7D-6043-005E4993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48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ECFF4-3D10-BDD5-C55B-D8EAD3E4A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27AB4-5D6C-9426-7BA5-96E8E6AD1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B40AF-11C4-0D40-212C-2C0DBAFB8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F2CBB-77B3-5C53-7FB0-49E42EB1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F52DB-FB42-4341-8261-BA2C9ABD16EA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6FE01-184A-8E4C-1AB8-C93E64DFF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D0E09-1B0C-41D5-7201-CE4024AEE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118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B97F8-67E5-837E-8848-65EF4A0A6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9D573B-D0BA-3F2B-B655-8B812A8D3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A91D0-26E7-097D-FE6C-83A3F52CB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E0854-267C-7A6B-1B64-E99836541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E4CAE-762F-4F6D-AD43-43AED4FBE1CA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A9070-DD11-D9A1-97A4-E5906B1D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B6DB7-4EAD-5000-861B-A6A75DC96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04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24472-A15C-8829-D1BD-2209BFBBE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8AC042-F846-6695-6FDA-AF5C28B66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97C9B-20CA-679F-A3B1-F18FD7309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61646-BB55-4044-9E0B-9B77C4963031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24E38-1D9E-2E3B-E8D8-E7939495B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39784-9D8F-9F26-08A2-2846F9C11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07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0C5F00-06A6-397E-8500-B5ADB14F27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9DD1A7-81F2-C560-8DB7-681B927C6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8EB77-E580-4D79-C91F-ABE872B2E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30E1-2257-4B66-9EC4-DAE70FB4254C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3DB5A-4954-9D23-3AF8-DE3FCA346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57F90-2326-45B0-0984-3ECE7ED76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39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98115-BDE7-86A6-51A9-D7A1AAF36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50E8B-ABE7-6646-4DA6-11A347FFF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5F6F0-E9C7-2F1A-A330-5AF396A18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50EA2-7BF4-40FC-988C-DA77C0C232B3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14D87-4461-198F-1F2C-E463EEEB3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51DD9-F5BE-CF3C-21EA-977444FC4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C9ECC8-CEE0-4715-87E1-619B93F94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26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17DE0-3B72-4FAD-B4E3-DBE452358D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CSI – 5130(Artificial Intelligence)</a:t>
            </a:r>
            <a:b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Adaptive Prompt Optimization using Reinforcement Learning (RLHF-lite) </a:t>
            </a:r>
            <a:br>
              <a:rPr lang="en-US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964AC-47C3-2771-F3B3-70A98A95E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2280" y="3777136"/>
            <a:ext cx="3453321" cy="1655762"/>
          </a:xfrm>
        </p:spPr>
        <p:txBody>
          <a:bodyPr/>
          <a:lstStyle/>
          <a:p>
            <a:pPr lvl="0" algn="l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pPr lvl="0" algn="l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Agna Antony</a:t>
            </a:r>
          </a:p>
          <a:p>
            <a:pPr lvl="0" algn="l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Vineela Rao Akasapu</a:t>
            </a:r>
          </a:p>
          <a:p>
            <a:pPr lvl="0" algn="l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Mubassir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Gamfoi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B28EC-E61A-5D48-AA2E-5C98F254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1</a:t>
            </a:fld>
            <a:endParaRPr lang="en-US"/>
          </a:p>
        </p:txBody>
      </p:sp>
      <p:pic>
        <p:nvPicPr>
          <p:cNvPr id="5" name="Google Shape;59;p13">
            <a:extLst>
              <a:ext uri="{FF2B5EF4-FFF2-40B4-BE49-F238E27FC236}">
                <a16:creationId xmlns:a16="http://schemas.microsoft.com/office/drawing/2014/main" id="{814053A6-2D44-53F2-C1BB-DCEBBD39B4B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538878" y="5686011"/>
            <a:ext cx="1622876" cy="417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4496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B0117-6D99-DA68-8363-49BA4CF89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  <a:endParaRPr lang="en-US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AC60A-16AB-6265-B818-344054526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Background On Large Language Models</a:t>
            </a:r>
          </a:p>
          <a:p>
            <a:r>
              <a:rPr lang="en-US" dirty="0"/>
              <a:t>Reinforcement Learning</a:t>
            </a:r>
          </a:p>
          <a:p>
            <a:r>
              <a:rPr lang="en-US" dirty="0"/>
              <a:t>RLHF-Lite Framework for Prompt Optimization</a:t>
            </a:r>
          </a:p>
          <a:p>
            <a:r>
              <a:rPr lang="en-US" dirty="0"/>
              <a:t>System Design and  Components </a:t>
            </a:r>
          </a:p>
          <a:p>
            <a:r>
              <a:rPr lang="en-US" dirty="0"/>
              <a:t>Techniques</a:t>
            </a:r>
          </a:p>
          <a:p>
            <a:r>
              <a:rPr lang="en-US" dirty="0"/>
              <a:t>Implementation and Training Process 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Challenges and Future work</a:t>
            </a:r>
          </a:p>
          <a:p>
            <a:r>
              <a:rPr lang="en-US" dirty="0"/>
              <a:t>References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46B860-7905-748D-E7AC-F81FC5646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75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9897D-86B9-00B1-41F5-204E5E9AC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Introduction - Adaptive Prompt Optimization</a:t>
            </a:r>
            <a:endParaRPr lang="en-US" sz="3600" dirty="0">
              <a:solidFill>
                <a:srgbClr val="0070C0"/>
              </a:solidFill>
            </a:endParaRPr>
          </a:p>
        </p:txBody>
      </p:sp>
      <p:graphicFrame>
        <p:nvGraphicFramePr>
          <p:cNvPr id="10" name="Google Shape;68;p15">
            <a:extLst>
              <a:ext uri="{FF2B5EF4-FFF2-40B4-BE49-F238E27FC236}">
                <a16:creationId xmlns:a16="http://schemas.microsoft.com/office/drawing/2014/main" id="{A5F8197F-4C23-F1A6-F18F-D4EF8A4AA1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1948325"/>
              </p:ext>
            </p:extLst>
          </p:nvPr>
        </p:nvGraphicFramePr>
        <p:xfrm>
          <a:off x="838200" y="1841499"/>
          <a:ext cx="9383184" cy="4144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320EDFC-BE42-A0AB-1F43-A0AE42E21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59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DB69F-F28B-438F-1B73-B6FD80DF2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30725"/>
          </a:xfrm>
        </p:spPr>
        <p:txBody>
          <a:bodyPr>
            <a:noAutofit/>
          </a:bodyPr>
          <a:lstStyle/>
          <a:p>
            <a:pPr lvl="0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Large Language Models like GPT-4, Mistral,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LLaMA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T5 enable tasks such as summarization, translation, reasoning and dialogue with near human fluency.</a:t>
            </a:r>
          </a:p>
          <a:p>
            <a:pPr marL="0" lv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Built on the Transformer architecture, which uses self attention to model long range dependencies and rich contextual relationships in text.</a:t>
            </a:r>
          </a:p>
          <a:p>
            <a:pPr marL="0" lvl="0" indent="0" algn="just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Transformers process all tokens in parallel instead of word by word, allowing them to capture subtle linguistic patterns and global context.</a:t>
            </a:r>
          </a:p>
          <a:p>
            <a:pPr marL="0" lv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LLMs are sequence to sequence or autoregressive generators that produce text one token at a time from a learned probability distribution.</a:t>
            </a:r>
          </a:p>
          <a:p>
            <a:pPr lvl="0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Because of this design, their behavior is highly sensitive to the structure, clarity and intent of the input prompt, making prompt design a critical factor in output quality.</a:t>
            </a:r>
          </a:p>
          <a:p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5D2554-AF59-BCE7-2086-31391C42B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Background - Large Language Models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EE143-D4F8-B725-9D78-76A5F34B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80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AAFE5-324D-8546-CC42-01B0CC801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Exploring the Google Flan-T5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93009-468D-4F33-B00A-E1BF2CFFF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30933" cy="4351338"/>
          </a:xfrm>
        </p:spPr>
        <p:txBody>
          <a:bodyPr>
            <a:normAutofit/>
          </a:bodyPr>
          <a:lstStyle/>
          <a:p>
            <a:pPr marL="457200" lvl="0">
              <a:lnSpc>
                <a:spcPct val="110000"/>
              </a:lnSpc>
              <a:spcBef>
                <a:spcPts val="0"/>
              </a:spcBef>
              <a:buSzPct val="100000"/>
            </a:pPr>
            <a:r>
              <a:rPr lang="en-US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Overview of flan-t5: </a:t>
            </a:r>
          </a:p>
          <a:p>
            <a:pPr lvl="1" indent="0" algn="just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By transforming all tasks into a single text-to-text format, flan-t5, a cutting-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edg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 text-to-text transformer model, performs exceptionally well in arrange of natural language processing tasks. Because of its adaptability, it can handle a wide range of tasks with exceptional accuracy and efficiency, including translation and summarization.</a:t>
            </a:r>
          </a:p>
          <a:p>
            <a:pPr lvl="1" indent="0" algn="just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endParaRPr lang="en-US" sz="18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>
              <a:lnSpc>
                <a:spcPct val="110000"/>
              </a:lnSpc>
              <a:spcBef>
                <a:spcPts val="1200"/>
              </a:spcBef>
              <a:buSzPct val="100000"/>
            </a:pPr>
            <a:r>
              <a:rPr lang="en-US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Advantage of flan-t5: </a:t>
            </a:r>
          </a:p>
          <a:p>
            <a:pPr lvl="1" indent="0" algn="just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The model's architecture makes good use of transfer learning, allowing it to perform well in a variety of tasks. Its pre-training on a sizable corpus of varied data improves its comprehension of linguistic context and subtleties, making it especially well-suited for adaptive prompt optimization.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DC07E-B654-D14A-0D1B-F79FA8F6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15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18F21-06A1-1109-2FCA-97EE1966D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EA432-4707-A287-C04D-968FD4C3A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Workflow – RLHF Lite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7967E-B5A5-C647-5DA1-A31537CFA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BAF39B6-EF91-7E0E-90E5-92D847CECE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0567876"/>
              </p:ext>
            </p:extLst>
          </p:nvPr>
        </p:nvGraphicFramePr>
        <p:xfrm>
          <a:off x="5681132" y="1120245"/>
          <a:ext cx="415713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Arrow: Down 11">
            <a:extLst>
              <a:ext uri="{FF2B5EF4-FFF2-40B4-BE49-F238E27FC236}">
                <a16:creationId xmlns:a16="http://schemas.microsoft.com/office/drawing/2014/main" id="{FB6863AD-48AA-F740-BB65-DE77DEAF4D3A}"/>
              </a:ext>
            </a:extLst>
          </p:cNvPr>
          <p:cNvSpPr/>
          <p:nvPr/>
        </p:nvSpPr>
        <p:spPr>
          <a:xfrm>
            <a:off x="10024534" y="1282700"/>
            <a:ext cx="482600" cy="4902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80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671EE-EA88-4623-0E63-1D12DF01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A5824-1691-EFA1-1A67-6748DEA05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Prompt Engineering for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85F77-FD09-DF23-886B-A0A5D2E7B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430933" cy="453072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Prompt engineering is the process of crafting and refining input instructions to elicit desired behavior from an LLM.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Effective prompts balance specificity, clarity and stylistic cues to improve coherence, correctness and relevance.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Small wording changes can dramatically affect outputs, for example: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“TL;DR:” vs “Summarize the following text”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“Summarize in a single sentence”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“What are the main points?</a:t>
            </a:r>
          </a:p>
          <a:p>
            <a:pPr lvl="0">
              <a:lnSpc>
                <a:spcPct val="110000"/>
              </a:lnSpc>
              <a:spcAft>
                <a:spcPts val="600"/>
              </a:spcAft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This sensitivity arises because LLMs rely on patterns learned from large corpora where certain phrases act as strong semantic triggers.</a:t>
            </a:r>
          </a:p>
          <a:p>
            <a:pPr lvl="0">
              <a:lnSpc>
                <a:spcPct val="110000"/>
              </a:lnSpc>
              <a:spcAft>
                <a:spcPts val="600"/>
              </a:spcAft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As a result, manual prompt engineering is often subjective, iterative and hard to scale across different tasks and datasets.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3B098-228A-A48B-2477-0E484D3E0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19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6D6A7-1826-93B5-C878-AD4C5F47D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26AD9-6EEE-3B0C-9074-34F4F3EE6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RLHF-Lite for Prompt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7051E-F230-3670-E986-79A81A66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546340F5-5BF0-149D-D8FD-E81CFBBED4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8688362"/>
              </p:ext>
            </p:extLst>
          </p:nvPr>
        </p:nvGraphicFramePr>
        <p:xfrm>
          <a:off x="838200" y="2080155"/>
          <a:ext cx="6652098" cy="2326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0849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C8649-DA4A-97BC-7A9E-159EB01C4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CCA65-84CD-F01F-BB47-270738DC1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7039"/>
          </a:xfrm>
        </p:spPr>
        <p:txBody>
          <a:bodyPr>
            <a:noAutofit/>
          </a:bodyPr>
          <a:lstStyle/>
          <a:p>
            <a:pPr lvl="0"/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In the machine learning paradigm known as Reinforcement learning, agents learn to make decisions by optimizing their actions to maximize cumulative rewards after receiving feedback from their surroundings.</a:t>
            </a:r>
          </a:p>
          <a:p>
            <a:pPr marL="0" lv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State, action, and reward in LLM context</a:t>
            </a: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"action" in LLMs is choosing a prompt or response strategy, the "state" is the current prompt and model output, and the "reward" is the assessment of the output quality using predetermined metrics.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178843-BFEA-767C-6B93-86CA1C090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Reinforcement Learning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F33E10-DE37-5A0D-4974-9D965A8A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13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86810-2B7C-69B5-3F13-5D0A1119D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0518E10-9859-685B-167E-9DC1626E0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Q-Learning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17161A-D0D8-4889-7AAE-E6D0CDF71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7" name="Google Shape;110;p22">
            <a:extLst>
              <a:ext uri="{FF2B5EF4-FFF2-40B4-BE49-F238E27FC236}">
                <a16:creationId xmlns:a16="http://schemas.microsoft.com/office/drawing/2014/main" id="{28A63974-85B1-F4F6-E149-87379DB557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4232296"/>
              </p:ext>
            </p:extLst>
          </p:nvPr>
        </p:nvGraphicFramePr>
        <p:xfrm>
          <a:off x="838200" y="1993894"/>
          <a:ext cx="10864174" cy="2870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2085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02FB2-A6FD-8FFE-5A68-3F4EABBDF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87E32-8465-8B41-0C77-530DC3D0B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7039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quality of generated responses is quantitatively evaluated using automated evaluation metrics like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ROUGE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BLEU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which offer unbiased feedback for the optimization process.</a:t>
            </a:r>
          </a:p>
          <a:p>
            <a:pPr lvl="0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ROUGE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- 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ecall-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riented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nderstudy for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isting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valuation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Measures the overlap of n-grams between generated text and reference summaries.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To determine the relevance and completeness of the content.</a:t>
            </a:r>
          </a:p>
          <a:p>
            <a:pPr marL="457200" lvl="1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BLEU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- B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ingual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valuation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nderstudy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Emphasizes accuracy and fluency in language generation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Assesses the quality of text by comparing n-grams of the produced output to reference translations.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5BF29E-5DB6-4DC4-E209-197314B9A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Automated Metrics</a:t>
            </a:r>
            <a:endParaRPr lang="en-US" sz="3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6424EA-10F8-1F9A-6EDD-C472DA1E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852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4920C-8B1F-8AC2-52DE-9AE7B9317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708C2-A83E-2BEF-44AC-237DDD705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Metrics Demonstration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23633-7961-16BF-616D-703AF90A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12</a:t>
            </a:fld>
            <a:endParaRPr lang="en-US"/>
          </a:p>
        </p:txBody>
      </p:sp>
      <p:pic>
        <p:nvPicPr>
          <p:cNvPr id="6" name="Google Shape;123;p24">
            <a:extLst>
              <a:ext uri="{FF2B5EF4-FFF2-40B4-BE49-F238E27FC236}">
                <a16:creationId xmlns:a16="http://schemas.microsoft.com/office/drawing/2014/main" id="{3F05D60A-9946-98A7-90DD-DF324FD0EAE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86606" y="2210921"/>
            <a:ext cx="7478949" cy="2119704"/>
          </a:xfrm>
          <a:prstGeom prst="rect">
            <a:avLst/>
          </a:prstGeom>
          <a:noFill/>
          <a:ln w="22225">
            <a:solidFill>
              <a:srgbClr val="FFC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CC2946-064E-6C86-F710-F1F10DBB82C9}"/>
              </a:ext>
            </a:extLst>
          </p:cNvPr>
          <p:cNvSpPr txBox="1"/>
          <p:nvPr/>
        </p:nvSpPr>
        <p:spPr>
          <a:xfrm>
            <a:off x="838200" y="172327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Of BLEU and ROUGE : </a:t>
            </a:r>
          </a:p>
        </p:txBody>
      </p:sp>
      <p:pic>
        <p:nvPicPr>
          <p:cNvPr id="10" name="Google Shape;129;p25">
            <a:extLst>
              <a:ext uri="{FF2B5EF4-FFF2-40B4-BE49-F238E27FC236}">
                <a16:creationId xmlns:a16="http://schemas.microsoft.com/office/drawing/2014/main" id="{F949F8A3-364E-E252-6EEA-5EED2A1355F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606" y="4896692"/>
            <a:ext cx="4829175" cy="1181100"/>
          </a:xfrm>
          <a:prstGeom prst="rect">
            <a:avLst/>
          </a:prstGeom>
          <a:noFill/>
          <a:ln w="22225">
            <a:solidFill>
              <a:srgbClr val="FFC00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2D8B3E-E689-B7C2-1F17-37100D0D44E6}"/>
              </a:ext>
            </a:extLst>
          </p:cNvPr>
          <p:cNvSpPr txBox="1"/>
          <p:nvPr/>
        </p:nvSpPr>
        <p:spPr>
          <a:xfrm>
            <a:off x="838199" y="4448942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93094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A5CDB-7AF9-2A66-09A3-F135466F2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81EF7-326C-4893-71CB-7C7E79AF4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 and Training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E1164-4298-AE60-DE68-98F243E33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30933" cy="4351338"/>
          </a:xfrm>
        </p:spPr>
        <p:txBody>
          <a:bodyPr>
            <a:normAutofit/>
          </a:bodyPr>
          <a:lstStyle/>
          <a:p>
            <a:pPr marL="457200" lvl="0">
              <a:lnSpc>
                <a:spcPct val="110000"/>
              </a:lnSpc>
              <a:spcBef>
                <a:spcPts val="0"/>
              </a:spcBef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implementation of RLHF-Lite utilizes popular machine learning frameworks and libraries, such as Transformers and Torch  to facilitate model training and optimization.</a:t>
            </a:r>
          </a:p>
          <a:p>
            <a:pPr marL="457200" lvl="0">
              <a:lnSpc>
                <a:spcPct val="110000"/>
              </a:lnSpc>
              <a:spcBef>
                <a:spcPts val="1200"/>
              </a:spcBef>
              <a:buSzPct val="100000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Training and Data loop Structure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914400" lvl="1">
              <a:lnSpc>
                <a:spcPct val="110000"/>
              </a:lnSpc>
              <a:spcBef>
                <a:spcPts val="1200"/>
              </a:spcBef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 order to ensure continuous improvement, the training process entails an organized loop in which prompts are repeatedly tested, assessed, and improved in response to feedback from the reward engine.</a:t>
            </a:r>
          </a:p>
          <a:p>
            <a:pPr marL="457200" lvl="0">
              <a:lnSpc>
                <a:spcPct val="110000"/>
              </a:lnSpc>
              <a:spcBef>
                <a:spcPts val="1200"/>
              </a:spcBef>
              <a:buSzPct val="100000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Evaluation Metrics and Computation Rewards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914400" lvl="1">
              <a:lnSpc>
                <a:spcPct val="110000"/>
              </a:lnSpc>
              <a:spcBef>
                <a:spcPts val="1200"/>
              </a:spcBef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Q-learning agent's learning process is guided by reward computation, and evaluation metrics are essential for measuring the performance of generated outputs.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08ED5-E4C3-FE03-5A23-AD1347EB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34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BE14A-ABCD-2A53-CF87-B359E585C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63AB4-6422-D1F4-FDE4-7484B9CAC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: Prompt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84B5A-4F4D-D14B-393F-EC7A63061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14</a:t>
            </a:fld>
            <a:endParaRPr lang="en-US"/>
          </a:p>
        </p:txBody>
      </p:sp>
      <p:pic>
        <p:nvPicPr>
          <p:cNvPr id="7" name="Google Shape;142;p27">
            <a:extLst>
              <a:ext uri="{FF2B5EF4-FFF2-40B4-BE49-F238E27FC236}">
                <a16:creationId xmlns:a16="http://schemas.microsoft.com/office/drawing/2014/main" id="{5E628FBC-A8A4-BBB0-A334-4995E7FECAC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77207" y="1912327"/>
            <a:ext cx="6400800" cy="3657600"/>
          </a:xfrm>
          <a:prstGeom prst="rect">
            <a:avLst/>
          </a:prstGeom>
          <a:noFill/>
          <a:ln w="22225"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2803409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0A472-1852-91DD-2234-946728C08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BC13D-5CC1-C2DE-3EC1-952D6914B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2900"/>
            <a:ext cx="10515600" cy="1927668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sz="18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Reward Trend: </a:t>
            </a:r>
            <a:r>
              <a:rPr lang="en-US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moving-average reward curve became more stable over time, showing that the agent gradually learned which prompts perform best.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sz="18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Q-Value Learning: </a:t>
            </a:r>
            <a:r>
              <a:rPr lang="en-US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 “TL;DR:” consistently received the highest Q-value and became the optimal summarization prompt.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92EFAD-EFFE-DD40-574B-68F70AF5B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777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: Results</a:t>
            </a:r>
            <a:endParaRPr lang="en-US" sz="3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B1A0F-FAB8-4FAC-0E99-15C0078C4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A39915-5D07-44DD-906C-A801D6FCC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83733"/>
            <a:ext cx="10617485" cy="360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58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505E7-B2D9-66CB-27E0-337488D7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15B5F-7B3F-26B0-AE95-90EC3CE2C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09237"/>
            <a:ext cx="5883613" cy="4427175"/>
          </a:xfrm>
        </p:spPr>
        <p:txBody>
          <a:bodyPr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1400"/>
              </a:spcBef>
              <a:buClr>
                <a:schemeClr val="dk1"/>
              </a:buClr>
              <a:buSzPts val="1100"/>
              <a:buNone/>
            </a:pPr>
            <a:r>
              <a:rPr lang="en-US" sz="18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 vs After: Summary Quality Comparison</a:t>
            </a: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Across the three evaluation examples:</a:t>
            </a:r>
          </a:p>
          <a:p>
            <a:pPr marL="431800" indent="-28575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Input 3</a:t>
            </a:r>
            <a:r>
              <a:rPr lang="en-US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(Spacecraft passage) showed the largest improvement.</a:t>
            </a:r>
          </a:p>
          <a:p>
            <a:pPr marL="889000" lvl="2" indent="-28575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 reward: 0.23</a:t>
            </a:r>
          </a:p>
          <a:p>
            <a:pPr marL="889000" lvl="2" indent="-28575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RL optimization: 1.0</a:t>
            </a:r>
          </a:p>
          <a:p>
            <a:pPr marL="914400" lvl="1" indent="-31115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Char char="○"/>
            </a:pPr>
            <a:endParaRPr lang="en-US" sz="1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1800" indent="-28575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</a:pPr>
            <a:r>
              <a:rPr lang="en-US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optimized prompt produced a summary perfectly aligned with the reference, outperforming the baseline significantly.</a:t>
            </a:r>
          </a:p>
          <a:p>
            <a:pPr marL="431800" indent="-28575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Input 2</a:t>
            </a:r>
            <a:r>
              <a:rPr 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(AI passage) showed a moderate improvement (0.31 → 0.38).</a:t>
            </a:r>
          </a:p>
          <a:p>
            <a:pPr marL="431800" lvl="0" indent="-28575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Input 1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(Fox sentence) remained mostly unchanged, indicating that extremely short and simple text offers less room for improvement.</a:t>
            </a:r>
          </a:p>
          <a:p>
            <a:pPr marL="431800" lvl="0" indent="-28575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</a:pPr>
            <a:endParaRPr lang="en-US" sz="16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A3D5DB8-24F9-299A-6EE6-4AD177BD2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: Results                                       contd...</a:t>
            </a:r>
            <a:endParaRPr lang="en-US" sz="3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54C94D-E3FA-40A7-345A-8CA10C466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oogle Shape;149;p28">
            <a:extLst>
              <a:ext uri="{FF2B5EF4-FFF2-40B4-BE49-F238E27FC236}">
                <a16:creationId xmlns:a16="http://schemas.microsoft.com/office/drawing/2014/main" id="{55F9C45E-EDDD-F82F-AFEC-E60486C117C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9609" y="2128433"/>
            <a:ext cx="5029200" cy="32004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55430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3844D-72CE-818F-68A4-2EB5ABE64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DC61F-AADD-393E-1872-2747D45A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B9080-5BF2-6D7C-3AF0-D2989C336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30933" cy="4351338"/>
          </a:xfrm>
        </p:spPr>
        <p:txBody>
          <a:bodyPr>
            <a:normAutofit/>
          </a:bodyPr>
          <a:lstStyle/>
          <a:p>
            <a:pPr marL="0" lvl="0">
              <a:lnSpc>
                <a:spcPct val="110000"/>
              </a:lnSpc>
              <a:spcBef>
                <a:spcPts val="800"/>
              </a:spcBef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Understanding model &amp; prompt behavior</a:t>
            </a:r>
          </a:p>
          <a:p>
            <a:pPr marL="0" lvl="0">
              <a:lnSpc>
                <a:spcPct val="110000"/>
              </a:lnSpc>
              <a:spcBef>
                <a:spcPts val="800"/>
              </a:spcBef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Data preparation &amp; cleaning issues</a:t>
            </a:r>
          </a:p>
          <a:p>
            <a:pPr marL="0" lvl="0">
              <a:lnSpc>
                <a:spcPct val="110000"/>
              </a:lnSpc>
              <a:spcBef>
                <a:spcPts val="800"/>
              </a:spcBef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Reinforcement learning instability</a:t>
            </a:r>
          </a:p>
          <a:p>
            <a:pPr marL="0" lvl="0">
              <a:lnSpc>
                <a:spcPct val="110000"/>
              </a:lnSpc>
              <a:spcBef>
                <a:spcPts val="800"/>
              </a:spcBef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Computational limitations (GPU/Memory)</a:t>
            </a:r>
          </a:p>
          <a:p>
            <a:pPr marL="0" lvl="0">
              <a:lnSpc>
                <a:spcPct val="110000"/>
              </a:lnSpc>
              <a:spcBef>
                <a:spcPts val="800"/>
              </a:spcBef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BLEU &amp; ROUGE evaluation constraints</a:t>
            </a:r>
          </a:p>
          <a:p>
            <a:pPr marL="0" lvl="0">
              <a:lnSpc>
                <a:spcPct val="110000"/>
              </a:lnSpc>
              <a:spcBef>
                <a:spcPts val="800"/>
              </a:spcBef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Debugging &amp; integration complexity</a:t>
            </a:r>
          </a:p>
          <a:p>
            <a:pPr marL="0" lvl="0">
              <a:lnSpc>
                <a:spcPct val="110000"/>
              </a:lnSpc>
              <a:spcBef>
                <a:spcPts val="800"/>
              </a:spcBef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Hyperparameter tuning challenges</a:t>
            </a:r>
          </a:p>
          <a:p>
            <a:pPr marL="0" lvl="0">
              <a:lnSpc>
                <a:spcPct val="110000"/>
              </a:lnSpc>
              <a:spcBef>
                <a:spcPts val="800"/>
              </a:spcBef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Generalization limitations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E65C9-826E-CD17-DED8-7FE46CE55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69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D8356-769E-DFDA-728B-41DFFF24E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11F5C-043E-591F-8C42-5E01701C8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70F3F-68E5-1728-5109-C9EDA1B19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30933" cy="4351338"/>
          </a:xfrm>
        </p:spPr>
        <p:txBody>
          <a:bodyPr>
            <a:noAutofit/>
          </a:bodyPr>
          <a:lstStyle/>
          <a:p>
            <a:pPr lvl="0">
              <a:lnSpc>
                <a:spcPct val="110000"/>
              </a:lnSpc>
              <a:spcBef>
                <a:spcPts val="800"/>
              </a:spcBef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Explore semantic reward models such as BERT Score and BLEURT for deeper meaning-based evaluation instead of lexical metrics like ROUGE.</a:t>
            </a:r>
          </a:p>
          <a:p>
            <a:pPr lvl="0">
              <a:lnSpc>
                <a:spcPct val="110000"/>
              </a:lnSpc>
              <a:spcBef>
                <a:spcPts val="800"/>
              </a:spcBef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Replace Q-learning with more advanced RL methods such as PPO (used in Instruct GPT) or modern approaches like GRPO, enabling multi-step prompt refinement.</a:t>
            </a:r>
          </a:p>
          <a:p>
            <a:pPr lvl="0">
              <a:lnSpc>
                <a:spcPct val="110000"/>
              </a:lnSpc>
              <a:spcBef>
                <a:spcPts val="800"/>
              </a:spcBef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Scale training to larger summarization datasets (e.g., XSUM, CNN/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DailyMail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 for better generalization.</a:t>
            </a:r>
          </a:p>
          <a:p>
            <a:pPr lvl="0">
              <a:lnSpc>
                <a:spcPct val="110000"/>
              </a:lnSpc>
              <a:spcBef>
                <a:spcPts val="800"/>
              </a:spcBef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Incorporate real human preference feedback to move closer to full RLHF.</a:t>
            </a:r>
          </a:p>
          <a:p>
            <a:pPr lvl="0">
              <a:lnSpc>
                <a:spcPct val="110000"/>
              </a:lnSpc>
              <a:spcBef>
                <a:spcPts val="800"/>
              </a:spcBef>
              <a:buSzPct val="1000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Extend the RLHF-Lite framework to other tasks such as question answering, rewriting, or style transformation, using lightweight models and quantization (e.g.,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QLoRA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4F3EE-DEF1-BD25-6F1A-1449F1CE5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854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666DF-E733-6D73-5B2A-E01E223EF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F59D6-79AA-7BFD-1887-72EC3FEB8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2EDDD-7FBA-E947-675C-0E4D4D7AF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30933" cy="4351338"/>
          </a:xfrm>
        </p:spPr>
        <p:txBody>
          <a:bodyPr>
            <a:noAutofit/>
          </a:bodyPr>
          <a:lstStyle/>
          <a:p>
            <a:pPr lvl="0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This project demonstrated that a lightweight reinforcement learning framework (RLHF-Lite) can effectively optimize prompts for Large Language Models.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Using FLAN-T5-Base as a frozen target model and a simple Q-learning agent, the system identified prompts that consistently produced higher-quality summaries.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Results showed that some inputs improved significantly with optimized prompting, while others changed only slightly—highlighting the prompt sensitivity of LLMs.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RL agent frequently converged toward the “TL;DR:” template, suggesting that certain prompts are broadly effective under ROUGE/BLEU evaluation.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Overall, the project proves that reinforcement learning can automate prompt engineering even with small datasets and low computational cost, providing a promising foundation for future extensions in tasks beyond summarization.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B1962-4CC8-B44E-BD58-B0092446F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45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6614B-7241-BC9C-91BE-268D42718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7A59A-3340-E9AC-52F5-BC01AB906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393" y="334303"/>
            <a:ext cx="10515600" cy="1001337"/>
          </a:xfrm>
        </p:spPr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0533F-56A3-6AB9-418E-B1707504C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30933" cy="4351338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10000"/>
              </a:lnSpc>
              <a:spcBef>
                <a:spcPts val="1200"/>
              </a:spcBef>
              <a:buSzPct val="100000"/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T. Zhang et al., “</a:t>
            </a:r>
            <a:r>
              <a:rPr lang="en-US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BERTScore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: Evaluating Text Generation with BERT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,”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preprint arXiv:1904.09675, 2020.</a:t>
            </a:r>
          </a:p>
          <a:p>
            <a:pPr marL="342900" lvl="0" indent="-342900">
              <a:lnSpc>
                <a:spcPct val="110000"/>
              </a:lnSpc>
              <a:spcBef>
                <a:spcPts val="1200"/>
              </a:spcBef>
              <a:buSzPct val="100000"/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T. Sellam, D. Das, and A. Parikh, “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BLEURT: Learning Robust Metrics for Text Generation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,”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preprint arXiv:2004.04696, 2020.</a:t>
            </a:r>
          </a:p>
          <a:p>
            <a:pPr marL="342900" lvl="0" indent="-342900">
              <a:lnSpc>
                <a:spcPct val="110000"/>
              </a:lnSpc>
              <a:spcBef>
                <a:spcPts val="1200"/>
              </a:spcBef>
              <a:buSzPct val="100000"/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L. Ouyang et al., “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Training language models to follow instructions with human feedback,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preprint arXiv:2203.02155, 2022.</a:t>
            </a:r>
          </a:p>
          <a:p>
            <a:pPr marL="342900" lvl="0" indent="-342900">
              <a:lnSpc>
                <a:spcPct val="110000"/>
              </a:lnSpc>
              <a:spcBef>
                <a:spcPts val="1200"/>
              </a:spcBef>
              <a:buSzPct val="100000"/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Chung, Hyung Won, et al. "Scaling instruction-finetuned language models." Journal of Machine Learning Research 25.70 (2024): 1-53.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49837-7D01-246D-97AE-B54BED70A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83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AE34-8F28-660B-4E36-032C7DB00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D25A7-3A4D-97A9-F398-7482489D6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393" y="334303"/>
            <a:ext cx="10515600" cy="1001337"/>
          </a:xfrm>
        </p:spPr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0153F-5542-0100-C313-7CFFD211A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30933" cy="4351338"/>
          </a:xfrm>
        </p:spPr>
        <p:txBody>
          <a:bodyPr>
            <a:noAutofit/>
          </a:bodyPr>
          <a:lstStyle/>
          <a:p>
            <a:pPr marL="0" lvl="0" indent="0">
              <a:lnSpc>
                <a:spcPct val="110000"/>
              </a:lnSpc>
              <a:spcBef>
                <a:spcPts val="1200"/>
              </a:spcBef>
              <a:buSzPct val="10000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				</a:t>
            </a:r>
          </a:p>
          <a:p>
            <a:pPr marL="0" lvl="0" indent="0">
              <a:lnSpc>
                <a:spcPct val="110000"/>
              </a:lnSpc>
              <a:spcBef>
                <a:spcPts val="1200"/>
              </a:spcBef>
              <a:buSzPct val="10000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  <a:p>
            <a:pPr marL="0" lvl="0" indent="0">
              <a:lnSpc>
                <a:spcPct val="110000"/>
              </a:lnSpc>
              <a:spcBef>
                <a:spcPts val="1200"/>
              </a:spcBef>
              <a:buSzPct val="10000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marL="0" lvl="0" indent="0">
              <a:lnSpc>
                <a:spcPct val="110000"/>
              </a:lnSpc>
              <a:spcBef>
                <a:spcPts val="1200"/>
              </a:spcBef>
              <a:buSzPct val="100000"/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10000"/>
              </a:lnSpc>
              <a:spcBef>
                <a:spcPts val="1200"/>
              </a:spcBef>
              <a:buSzPct val="10000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br>
              <a:rPr lang="en-IN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IN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			Q &amp; A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BC38F-FD1D-5910-3594-A128C0E7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ECC8-CEE0-4715-87E1-619B93F9429B}" type="slidenum">
              <a:rPr lang="en-US" smtClean="0"/>
              <a:t>21</a:t>
            </a:fld>
            <a:endParaRPr lang="en-US"/>
          </a:p>
        </p:txBody>
      </p:sp>
      <p:pic>
        <p:nvPicPr>
          <p:cNvPr id="5" name="Graphic 3" descr="Handshake with solid fill">
            <a:extLst>
              <a:ext uri="{FF2B5EF4-FFF2-40B4-BE49-F238E27FC236}">
                <a16:creationId xmlns:a16="http://schemas.microsoft.com/office/drawing/2014/main" id="{DFB3D215-2AF8-FE2D-20AF-64773916B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50971" y="1825625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855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1204</TotalTime>
  <Words>1645</Words>
  <Application>Microsoft Office PowerPoint</Application>
  <PresentationFormat>Widescreen</PresentationFormat>
  <Paragraphs>167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Courier New</vt:lpstr>
      <vt:lpstr>Office Theme</vt:lpstr>
      <vt:lpstr>CSI – 5130(Artificial Intelligence) Adaptive Prompt Optimization using Reinforcement Learning (RLHF-lite)  </vt:lpstr>
      <vt:lpstr>Agenda</vt:lpstr>
      <vt:lpstr>Introduction - Adaptive Prompt Optimization</vt:lpstr>
      <vt:lpstr>Background - Large Language Models</vt:lpstr>
      <vt:lpstr>Exploring the Google Flan-T5 Model</vt:lpstr>
      <vt:lpstr>Workflow – RLHF Lite</vt:lpstr>
      <vt:lpstr>Prompt Engineering for LLMs</vt:lpstr>
      <vt:lpstr>RLHF-Lite for Prompt Optimization</vt:lpstr>
      <vt:lpstr>Reinforcement Learning</vt:lpstr>
      <vt:lpstr>Q-Learning</vt:lpstr>
      <vt:lpstr>Automated Metrics</vt:lpstr>
      <vt:lpstr>Metrics Demonstration</vt:lpstr>
      <vt:lpstr>Implementation and Training Process</vt:lpstr>
      <vt:lpstr>Code : Prompt Comparison</vt:lpstr>
      <vt:lpstr>Output : Results</vt:lpstr>
      <vt:lpstr>Output : Results                                       contd...</vt:lpstr>
      <vt:lpstr>Challenges</vt:lpstr>
      <vt:lpstr>Future Work</vt:lpstr>
      <vt:lpstr>Conclusion</vt:lpstr>
      <vt:lpstr>References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Paramesh Chintala</dc:creator>
  <cp:lastModifiedBy>Paramesh Chintala</cp:lastModifiedBy>
  <cp:revision>17</cp:revision>
  <dcterms:created xsi:type="dcterms:W3CDTF">2025-12-01T22:15:25Z</dcterms:created>
  <dcterms:modified xsi:type="dcterms:W3CDTF">2025-12-02T19:46:06Z</dcterms:modified>
</cp:coreProperties>
</file>